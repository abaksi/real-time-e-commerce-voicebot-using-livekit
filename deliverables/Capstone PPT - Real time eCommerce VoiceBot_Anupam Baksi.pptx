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8"/>
  </p:notesMasterIdLst>
  <p:sldIdLst>
    <p:sldId id="256" r:id="rId2"/>
    <p:sldId id="257" r:id="rId3"/>
    <p:sldId id="713" r:id="rId4"/>
    <p:sldId id="676" r:id="rId5"/>
    <p:sldId id="258" r:id="rId6"/>
    <p:sldId id="259" r:id="rId7"/>
    <p:sldId id="260" r:id="rId8"/>
    <p:sldId id="261" r:id="rId9"/>
    <p:sldId id="715" r:id="rId10"/>
    <p:sldId id="716" r:id="rId11"/>
    <p:sldId id="717" r:id="rId12"/>
    <p:sldId id="264" r:id="rId13"/>
    <p:sldId id="265" r:id="rId14"/>
    <p:sldId id="266" r:id="rId15"/>
    <p:sldId id="303" r:id="rId16"/>
    <p:sldId id="71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59" d="100"/>
          <a:sy n="59" d="100"/>
        </p:scale>
        <p:origin x="164" y="56"/>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29-03-2026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4</a:t>
            </a:fld>
            <a:endParaRPr lang="en-IN" dirty="0"/>
          </a:p>
        </p:txBody>
      </p:sp>
    </p:spTree>
    <p:extLst>
      <p:ext uri="{BB962C8B-B14F-4D97-AF65-F5344CB8AC3E}">
        <p14:creationId xmlns:p14="http://schemas.microsoft.com/office/powerpoint/2010/main" val="1821802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D3AF2-6775-558B-705B-3022C057D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42045-E45F-034D-278B-5721A5C9A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D937FD-1CD3-288C-5313-EE5AF116DE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78DBF5-71DC-CA47-3034-C97D429E8F81}"/>
              </a:ext>
            </a:extLst>
          </p:cNvPr>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615989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CEE5F-C582-971F-9BE9-D7E6943EF8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3775C-71B7-8308-8513-7E2ED8849A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E24EE2-8E9B-C569-A765-1D4EA945E3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496BE6-A2C4-3D43-C137-CE468A29CA9E}"/>
              </a:ext>
            </a:extLst>
          </p:cNvPr>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4038632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2115417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13968619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6106212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5245743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11820003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5808910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9736792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350419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536274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4076095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2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Real Time E-Commerce VoiceBot</a:t>
            </a:r>
          </a:p>
        </p:txBody>
      </p:sp>
      <p:sp>
        <p:nvSpPr>
          <p:cNvPr id="3" name="Rectangle 2">
            <a:extLst>
              <a:ext uri="{FF2B5EF4-FFF2-40B4-BE49-F238E27FC236}">
                <a16:creationId xmlns:a16="http://schemas.microsoft.com/office/drawing/2014/main" id="{6DD09539-A48E-B082-625B-E2FF4BACB48A}"/>
              </a:ext>
            </a:extLst>
          </p:cNvPr>
          <p:cNvSpPr/>
          <p:nvPr/>
        </p:nvSpPr>
        <p:spPr>
          <a:xfrm>
            <a:off x="10036629" y="6293490"/>
            <a:ext cx="2427513" cy="412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latin typeface="Calibri" panose="020F0502020204030204" pitchFamily="34" charset="0"/>
              </a:rPr>
              <a:t>Anupam Baksi</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99262"/>
            <a:ext cx="4725492" cy="590649"/>
          </a:xfrm>
          <a:prstGeom prst="rect">
            <a:avLst/>
          </a:prstGeom>
          <a:noFill/>
          <a:ln/>
        </p:spPr>
        <p:txBody>
          <a:bodyPr wrap="none" lIns="0" tIns="0" rIns="0" bIns="0" rtlCol="0" anchor="t"/>
          <a:lstStyle/>
          <a:p>
            <a:pPr>
              <a:lnSpc>
                <a:spcPts val="4625"/>
              </a:lnSpc>
            </a:pPr>
            <a:r>
              <a:rPr lang="en-US" sz="3600" b="1" dirty="0">
                <a:solidFill>
                  <a:srgbClr val="161A3E"/>
                </a:solidFill>
                <a:ea typeface="Nunito Sans Bold" pitchFamily="34" charset="-122"/>
                <a:cs typeface="Nunito Sans Bold" pitchFamily="34" charset="-120"/>
              </a:rPr>
              <a:t>Agenda</a:t>
            </a:r>
            <a:endParaRPr lang="en-US" sz="3600" dirty="0"/>
          </a:p>
        </p:txBody>
      </p:sp>
      <p:sp>
        <p:nvSpPr>
          <p:cNvPr id="3" name="Text 1"/>
          <p:cNvSpPr/>
          <p:nvPr/>
        </p:nvSpPr>
        <p:spPr>
          <a:xfrm>
            <a:off x="661492" y="1398518"/>
            <a:ext cx="189012" cy="236240"/>
          </a:xfrm>
          <a:prstGeom prst="rect">
            <a:avLst/>
          </a:prstGeom>
          <a:noFill/>
          <a:ln/>
        </p:spPr>
        <p:txBody>
          <a:bodyPr wrap="none" lIns="0" tIns="0" rIns="0" bIns="0" rtlCol="0" anchor="t"/>
          <a:lstStyle/>
          <a:p>
            <a:pPr>
              <a:lnSpc>
                <a:spcPts val="2375"/>
              </a:lnSpc>
            </a:pPr>
            <a:r>
              <a:rPr lang="en-US" sz="1600" dirty="0">
                <a:solidFill>
                  <a:srgbClr val="000000"/>
                </a:solidFill>
                <a:ea typeface="Nunito Sans Light" pitchFamily="34" charset="-122"/>
                <a:cs typeface="Nunito Sans Light" pitchFamily="34" charset="-120"/>
              </a:rPr>
              <a:t>01</a:t>
            </a:r>
            <a:endParaRPr lang="en-US" sz="1600" dirty="0"/>
          </a:p>
        </p:txBody>
      </p:sp>
      <p:sp>
        <p:nvSpPr>
          <p:cNvPr id="4" name="Shape 2"/>
          <p:cNvSpPr/>
          <p:nvPr/>
        </p:nvSpPr>
        <p:spPr>
          <a:xfrm>
            <a:off x="661492" y="1694388"/>
            <a:ext cx="3496965" cy="25400"/>
          </a:xfrm>
          <a:prstGeom prst="rect">
            <a:avLst/>
          </a:prstGeom>
          <a:solidFill>
            <a:srgbClr val="1D1B58"/>
          </a:solidFill>
          <a:ln/>
        </p:spPr>
      </p:sp>
      <p:sp>
        <p:nvSpPr>
          <p:cNvPr id="5" name="Text 3"/>
          <p:cNvSpPr/>
          <p:nvPr/>
        </p:nvSpPr>
        <p:spPr>
          <a:xfrm>
            <a:off x="661492" y="1839644"/>
            <a:ext cx="3496965" cy="604838"/>
          </a:xfrm>
          <a:prstGeom prst="rect">
            <a:avLst/>
          </a:prstGeom>
          <a:noFill/>
          <a:ln/>
        </p:spPr>
        <p:txBody>
          <a:bodyPr wrap="square" lIns="0" tIns="0" rIns="0" bIns="0" rtlCol="0" anchor="t"/>
          <a:lstStyle/>
          <a:p>
            <a:pPr>
              <a:lnSpc>
                <a:spcPts val="2375"/>
              </a:lnSpc>
            </a:pPr>
            <a:r>
              <a:rPr lang="en-US" sz="1600" dirty="0">
                <a:solidFill>
                  <a:srgbClr val="000000"/>
                </a:solidFill>
                <a:ea typeface="Nunito Sans" pitchFamily="34" charset="-122"/>
                <a:cs typeface="Nunito Sans" pitchFamily="34" charset="-120"/>
              </a:rPr>
              <a:t>The Problem - Why voice support matters in e-commerce</a:t>
            </a:r>
            <a:endParaRPr lang="en-US" sz="1600" dirty="0"/>
          </a:p>
        </p:txBody>
      </p:sp>
      <p:sp>
        <p:nvSpPr>
          <p:cNvPr id="6" name="Text 4"/>
          <p:cNvSpPr/>
          <p:nvPr/>
        </p:nvSpPr>
        <p:spPr>
          <a:xfrm>
            <a:off x="4347468" y="1398518"/>
            <a:ext cx="189012" cy="236240"/>
          </a:xfrm>
          <a:prstGeom prst="rect">
            <a:avLst/>
          </a:prstGeom>
          <a:noFill/>
          <a:ln/>
        </p:spPr>
        <p:txBody>
          <a:bodyPr wrap="none" lIns="0" tIns="0" rIns="0" bIns="0" rtlCol="0" anchor="t"/>
          <a:lstStyle/>
          <a:p>
            <a:pPr>
              <a:lnSpc>
                <a:spcPts val="2375"/>
              </a:lnSpc>
            </a:pPr>
            <a:r>
              <a:rPr lang="en-US" sz="1600" dirty="0">
                <a:solidFill>
                  <a:srgbClr val="000000"/>
                </a:solidFill>
                <a:ea typeface="Nunito Sans Light" pitchFamily="34" charset="-122"/>
                <a:cs typeface="Nunito Sans Light" pitchFamily="34" charset="-120"/>
              </a:rPr>
              <a:t>02</a:t>
            </a:r>
            <a:endParaRPr lang="en-US" sz="1600" dirty="0"/>
          </a:p>
        </p:txBody>
      </p:sp>
      <p:sp>
        <p:nvSpPr>
          <p:cNvPr id="7" name="Shape 5"/>
          <p:cNvSpPr/>
          <p:nvPr/>
        </p:nvSpPr>
        <p:spPr>
          <a:xfrm>
            <a:off x="4347468" y="1694388"/>
            <a:ext cx="3496965" cy="25400"/>
          </a:xfrm>
          <a:prstGeom prst="rect">
            <a:avLst/>
          </a:prstGeom>
          <a:solidFill>
            <a:srgbClr val="1D1B58"/>
          </a:solidFill>
          <a:ln/>
        </p:spPr>
      </p:sp>
      <p:sp>
        <p:nvSpPr>
          <p:cNvPr id="8" name="Text 6"/>
          <p:cNvSpPr/>
          <p:nvPr/>
        </p:nvSpPr>
        <p:spPr>
          <a:xfrm>
            <a:off x="4347468" y="1839644"/>
            <a:ext cx="3496965" cy="604838"/>
          </a:xfrm>
          <a:prstGeom prst="rect">
            <a:avLst/>
          </a:prstGeom>
          <a:noFill/>
          <a:ln/>
        </p:spPr>
        <p:txBody>
          <a:bodyPr wrap="square" lIns="0" tIns="0" rIns="0" bIns="0" rtlCol="0" anchor="t"/>
          <a:lstStyle/>
          <a:p>
            <a:pPr>
              <a:lnSpc>
                <a:spcPts val="2375"/>
              </a:lnSpc>
            </a:pPr>
            <a:r>
              <a:rPr lang="en-US" sz="1600" dirty="0">
                <a:solidFill>
                  <a:srgbClr val="000000"/>
                </a:solidFill>
                <a:ea typeface="Nunito Sans" pitchFamily="34" charset="-122"/>
                <a:cs typeface="Nunito Sans" pitchFamily="34" charset="-120"/>
              </a:rPr>
              <a:t>Solution - Real-time voice assistant approach</a:t>
            </a:r>
            <a:endParaRPr lang="en-US" sz="1600" dirty="0"/>
          </a:p>
        </p:txBody>
      </p:sp>
      <p:sp>
        <p:nvSpPr>
          <p:cNvPr id="9" name="Text 7"/>
          <p:cNvSpPr/>
          <p:nvPr/>
        </p:nvSpPr>
        <p:spPr>
          <a:xfrm>
            <a:off x="8033444" y="1398518"/>
            <a:ext cx="189012" cy="236240"/>
          </a:xfrm>
          <a:prstGeom prst="rect">
            <a:avLst/>
          </a:prstGeom>
          <a:noFill/>
          <a:ln/>
        </p:spPr>
        <p:txBody>
          <a:bodyPr wrap="none" lIns="0" tIns="0" rIns="0" bIns="0" rtlCol="0" anchor="t"/>
          <a:lstStyle/>
          <a:p>
            <a:pPr>
              <a:lnSpc>
                <a:spcPts val="2375"/>
              </a:lnSpc>
            </a:pPr>
            <a:r>
              <a:rPr lang="en-US" sz="1600" dirty="0">
                <a:solidFill>
                  <a:srgbClr val="000000"/>
                </a:solidFill>
                <a:ea typeface="Nunito Sans Light" pitchFamily="34" charset="-122"/>
                <a:cs typeface="Nunito Sans Light" pitchFamily="34" charset="-120"/>
              </a:rPr>
              <a:t>03</a:t>
            </a:r>
            <a:endParaRPr lang="en-US" sz="1600" dirty="0"/>
          </a:p>
        </p:txBody>
      </p:sp>
      <p:sp>
        <p:nvSpPr>
          <p:cNvPr id="10" name="Shape 8"/>
          <p:cNvSpPr/>
          <p:nvPr/>
        </p:nvSpPr>
        <p:spPr>
          <a:xfrm>
            <a:off x="8033444" y="1694388"/>
            <a:ext cx="3496965" cy="25400"/>
          </a:xfrm>
          <a:prstGeom prst="rect">
            <a:avLst/>
          </a:prstGeom>
          <a:solidFill>
            <a:srgbClr val="1D1B58"/>
          </a:solidFill>
          <a:ln/>
        </p:spPr>
      </p:sp>
      <p:sp>
        <p:nvSpPr>
          <p:cNvPr id="11" name="Text 9"/>
          <p:cNvSpPr/>
          <p:nvPr/>
        </p:nvSpPr>
        <p:spPr>
          <a:xfrm>
            <a:off x="8033444" y="1839644"/>
            <a:ext cx="3496965" cy="604838"/>
          </a:xfrm>
          <a:prstGeom prst="rect">
            <a:avLst/>
          </a:prstGeom>
          <a:noFill/>
          <a:ln/>
        </p:spPr>
        <p:txBody>
          <a:bodyPr wrap="square" lIns="0" tIns="0" rIns="0" bIns="0" rtlCol="0" anchor="t"/>
          <a:lstStyle/>
          <a:p>
            <a:pPr>
              <a:lnSpc>
                <a:spcPts val="2375"/>
              </a:lnSpc>
            </a:pPr>
            <a:r>
              <a:rPr lang="en-US" sz="1600" dirty="0">
                <a:solidFill>
                  <a:srgbClr val="000000"/>
                </a:solidFill>
                <a:ea typeface="Nunito Sans" pitchFamily="34" charset="-122"/>
                <a:cs typeface="Nunito Sans" pitchFamily="34" charset="-120"/>
              </a:rPr>
              <a:t>Architecture Overview - System design and components</a:t>
            </a:r>
            <a:endParaRPr lang="en-US" sz="1600" dirty="0"/>
          </a:p>
        </p:txBody>
      </p:sp>
      <p:sp>
        <p:nvSpPr>
          <p:cNvPr id="12" name="Text 10"/>
          <p:cNvSpPr/>
          <p:nvPr/>
        </p:nvSpPr>
        <p:spPr>
          <a:xfrm>
            <a:off x="661492" y="2775178"/>
            <a:ext cx="189012" cy="236240"/>
          </a:xfrm>
          <a:prstGeom prst="rect">
            <a:avLst/>
          </a:prstGeom>
          <a:noFill/>
          <a:ln/>
        </p:spPr>
        <p:txBody>
          <a:bodyPr wrap="none" lIns="0" tIns="0" rIns="0" bIns="0" rtlCol="0" anchor="t"/>
          <a:lstStyle/>
          <a:p>
            <a:pPr>
              <a:lnSpc>
                <a:spcPts val="2375"/>
              </a:lnSpc>
            </a:pPr>
            <a:r>
              <a:rPr lang="en-US" sz="1600" dirty="0">
                <a:solidFill>
                  <a:srgbClr val="000000"/>
                </a:solidFill>
                <a:ea typeface="Nunito Sans Light" pitchFamily="34" charset="-122"/>
                <a:cs typeface="Nunito Sans Light" pitchFamily="34" charset="-120"/>
              </a:rPr>
              <a:t>04</a:t>
            </a:r>
            <a:endParaRPr lang="en-US" sz="1600" dirty="0"/>
          </a:p>
        </p:txBody>
      </p:sp>
      <p:sp>
        <p:nvSpPr>
          <p:cNvPr id="13" name="Shape 11"/>
          <p:cNvSpPr/>
          <p:nvPr/>
        </p:nvSpPr>
        <p:spPr>
          <a:xfrm>
            <a:off x="661492" y="3071048"/>
            <a:ext cx="3496965" cy="25400"/>
          </a:xfrm>
          <a:prstGeom prst="rect">
            <a:avLst/>
          </a:prstGeom>
          <a:solidFill>
            <a:srgbClr val="1D1B58"/>
          </a:solidFill>
          <a:ln/>
        </p:spPr>
      </p:sp>
      <p:sp>
        <p:nvSpPr>
          <p:cNvPr id="14" name="Text 12"/>
          <p:cNvSpPr/>
          <p:nvPr/>
        </p:nvSpPr>
        <p:spPr>
          <a:xfrm>
            <a:off x="661492" y="3216304"/>
            <a:ext cx="3496965" cy="604838"/>
          </a:xfrm>
          <a:prstGeom prst="rect">
            <a:avLst/>
          </a:prstGeom>
          <a:noFill/>
          <a:ln/>
        </p:spPr>
        <p:txBody>
          <a:bodyPr wrap="square" lIns="0" tIns="0" rIns="0" bIns="0" rtlCol="0" anchor="t"/>
          <a:lstStyle/>
          <a:p>
            <a:pPr>
              <a:lnSpc>
                <a:spcPts val="2375"/>
              </a:lnSpc>
            </a:pPr>
            <a:r>
              <a:rPr lang="en-US" sz="1600" dirty="0">
                <a:solidFill>
                  <a:srgbClr val="000000"/>
                </a:solidFill>
                <a:ea typeface="Nunito Sans" pitchFamily="34" charset="-122"/>
                <a:cs typeface="Nunito Sans" pitchFamily="34" charset="-120"/>
              </a:rPr>
              <a:t>Technical Stack - Technologies and tools used</a:t>
            </a:r>
            <a:endParaRPr lang="en-US" sz="1600" dirty="0"/>
          </a:p>
        </p:txBody>
      </p:sp>
      <p:sp>
        <p:nvSpPr>
          <p:cNvPr id="15" name="Text 13"/>
          <p:cNvSpPr/>
          <p:nvPr/>
        </p:nvSpPr>
        <p:spPr>
          <a:xfrm>
            <a:off x="4347468" y="2775178"/>
            <a:ext cx="189012" cy="236240"/>
          </a:xfrm>
          <a:prstGeom prst="rect">
            <a:avLst/>
          </a:prstGeom>
          <a:noFill/>
          <a:ln/>
        </p:spPr>
        <p:txBody>
          <a:bodyPr wrap="none" lIns="0" tIns="0" rIns="0" bIns="0" rtlCol="0" anchor="t"/>
          <a:lstStyle/>
          <a:p>
            <a:pPr>
              <a:lnSpc>
                <a:spcPts val="2375"/>
              </a:lnSpc>
            </a:pPr>
            <a:r>
              <a:rPr lang="en-US" sz="1600" dirty="0">
                <a:solidFill>
                  <a:srgbClr val="000000"/>
                </a:solidFill>
                <a:ea typeface="Nunito Sans Light" pitchFamily="34" charset="-122"/>
                <a:cs typeface="Nunito Sans Light" pitchFamily="34" charset="-120"/>
              </a:rPr>
              <a:t>05</a:t>
            </a:r>
            <a:endParaRPr lang="en-US" sz="1600" dirty="0"/>
          </a:p>
        </p:txBody>
      </p:sp>
      <p:sp>
        <p:nvSpPr>
          <p:cNvPr id="16" name="Shape 14"/>
          <p:cNvSpPr/>
          <p:nvPr/>
        </p:nvSpPr>
        <p:spPr>
          <a:xfrm>
            <a:off x="4347468" y="3071048"/>
            <a:ext cx="3496965" cy="25400"/>
          </a:xfrm>
          <a:prstGeom prst="rect">
            <a:avLst/>
          </a:prstGeom>
          <a:solidFill>
            <a:srgbClr val="1D1B58"/>
          </a:solidFill>
          <a:ln/>
        </p:spPr>
      </p:sp>
      <p:sp>
        <p:nvSpPr>
          <p:cNvPr id="17" name="Text 15"/>
          <p:cNvSpPr/>
          <p:nvPr/>
        </p:nvSpPr>
        <p:spPr>
          <a:xfrm>
            <a:off x="4347468" y="3216304"/>
            <a:ext cx="3496965" cy="604838"/>
          </a:xfrm>
          <a:prstGeom prst="rect">
            <a:avLst/>
          </a:prstGeom>
          <a:noFill/>
          <a:ln/>
        </p:spPr>
        <p:txBody>
          <a:bodyPr wrap="square" lIns="0" tIns="0" rIns="0" bIns="0" rtlCol="0" anchor="t"/>
          <a:lstStyle/>
          <a:p>
            <a:pPr>
              <a:lnSpc>
                <a:spcPts val="2375"/>
              </a:lnSpc>
            </a:pPr>
            <a:r>
              <a:rPr lang="en-US" sz="1600" dirty="0">
                <a:solidFill>
                  <a:srgbClr val="000000"/>
                </a:solidFill>
                <a:ea typeface="Nunito Sans" pitchFamily="34" charset="-122"/>
                <a:cs typeface="Nunito Sans" pitchFamily="34" charset="-120"/>
              </a:rPr>
              <a:t>Key Engineering Challenges - Problems solved and solutions</a:t>
            </a:r>
            <a:endParaRPr lang="en-US" sz="1600" dirty="0"/>
          </a:p>
        </p:txBody>
      </p:sp>
      <p:sp>
        <p:nvSpPr>
          <p:cNvPr id="18" name="Text 16"/>
          <p:cNvSpPr/>
          <p:nvPr/>
        </p:nvSpPr>
        <p:spPr>
          <a:xfrm>
            <a:off x="8033444" y="2775178"/>
            <a:ext cx="189012" cy="236240"/>
          </a:xfrm>
          <a:prstGeom prst="rect">
            <a:avLst/>
          </a:prstGeom>
          <a:noFill/>
          <a:ln/>
        </p:spPr>
        <p:txBody>
          <a:bodyPr wrap="none" lIns="0" tIns="0" rIns="0" bIns="0" rtlCol="0" anchor="t"/>
          <a:lstStyle/>
          <a:p>
            <a:pPr>
              <a:lnSpc>
                <a:spcPts val="2375"/>
              </a:lnSpc>
            </a:pPr>
            <a:r>
              <a:rPr lang="en-US" sz="1600" dirty="0">
                <a:solidFill>
                  <a:srgbClr val="000000"/>
                </a:solidFill>
                <a:ea typeface="Nunito Sans Light" pitchFamily="34" charset="-122"/>
                <a:cs typeface="Nunito Sans Light" pitchFamily="34" charset="-120"/>
              </a:rPr>
              <a:t>06</a:t>
            </a:r>
            <a:endParaRPr lang="en-US" sz="1600" dirty="0"/>
          </a:p>
        </p:txBody>
      </p:sp>
      <p:sp>
        <p:nvSpPr>
          <p:cNvPr id="19" name="Shape 17"/>
          <p:cNvSpPr/>
          <p:nvPr/>
        </p:nvSpPr>
        <p:spPr>
          <a:xfrm>
            <a:off x="8033444" y="3071048"/>
            <a:ext cx="3496965" cy="25400"/>
          </a:xfrm>
          <a:prstGeom prst="rect">
            <a:avLst/>
          </a:prstGeom>
          <a:solidFill>
            <a:srgbClr val="1D1B58"/>
          </a:solidFill>
          <a:ln/>
        </p:spPr>
      </p:sp>
      <p:sp>
        <p:nvSpPr>
          <p:cNvPr id="20" name="Text 18"/>
          <p:cNvSpPr/>
          <p:nvPr/>
        </p:nvSpPr>
        <p:spPr>
          <a:xfrm>
            <a:off x="8033444" y="3216304"/>
            <a:ext cx="3496965" cy="604838"/>
          </a:xfrm>
          <a:prstGeom prst="rect">
            <a:avLst/>
          </a:prstGeom>
          <a:noFill/>
          <a:ln/>
        </p:spPr>
        <p:txBody>
          <a:bodyPr wrap="square" lIns="0" tIns="0" rIns="0" bIns="0" rtlCol="0" anchor="t"/>
          <a:lstStyle/>
          <a:p>
            <a:pPr>
              <a:lnSpc>
                <a:spcPts val="2375"/>
              </a:lnSpc>
            </a:pPr>
            <a:r>
              <a:rPr lang="en-US" sz="1600" dirty="0">
                <a:solidFill>
                  <a:srgbClr val="000000"/>
                </a:solidFill>
                <a:ea typeface="Nunito Sans" pitchFamily="34" charset="-122"/>
                <a:cs typeface="Nunito Sans" pitchFamily="34" charset="-120"/>
              </a:rPr>
              <a:t>Live Demo Scenarios and Screens</a:t>
            </a:r>
            <a:endParaRPr lang="en-US" sz="1600" dirty="0"/>
          </a:p>
        </p:txBody>
      </p:sp>
      <p:sp>
        <p:nvSpPr>
          <p:cNvPr id="21" name="Text 19"/>
          <p:cNvSpPr/>
          <p:nvPr/>
        </p:nvSpPr>
        <p:spPr>
          <a:xfrm>
            <a:off x="661492" y="4151838"/>
            <a:ext cx="189012" cy="236240"/>
          </a:xfrm>
          <a:prstGeom prst="rect">
            <a:avLst/>
          </a:prstGeom>
          <a:noFill/>
          <a:ln/>
        </p:spPr>
        <p:txBody>
          <a:bodyPr wrap="none" lIns="0" tIns="0" rIns="0" bIns="0" rtlCol="0" anchor="t"/>
          <a:lstStyle/>
          <a:p>
            <a:pPr>
              <a:lnSpc>
                <a:spcPts val="2375"/>
              </a:lnSpc>
            </a:pPr>
            <a:r>
              <a:rPr lang="en-US" sz="1600" dirty="0">
                <a:solidFill>
                  <a:srgbClr val="000000"/>
                </a:solidFill>
                <a:ea typeface="Nunito Sans Light" pitchFamily="34" charset="-122"/>
                <a:cs typeface="Nunito Sans Light" pitchFamily="34" charset="-120"/>
              </a:rPr>
              <a:t>07</a:t>
            </a:r>
            <a:endParaRPr lang="en-US" sz="1600" dirty="0"/>
          </a:p>
        </p:txBody>
      </p:sp>
      <p:sp>
        <p:nvSpPr>
          <p:cNvPr id="22" name="Shape 20"/>
          <p:cNvSpPr/>
          <p:nvPr/>
        </p:nvSpPr>
        <p:spPr>
          <a:xfrm>
            <a:off x="661492" y="4447708"/>
            <a:ext cx="3496965" cy="25400"/>
          </a:xfrm>
          <a:prstGeom prst="rect">
            <a:avLst/>
          </a:prstGeom>
          <a:solidFill>
            <a:srgbClr val="1D1B58"/>
          </a:solidFill>
          <a:ln/>
        </p:spPr>
      </p:sp>
      <p:sp>
        <p:nvSpPr>
          <p:cNvPr id="23" name="Text 21"/>
          <p:cNvSpPr/>
          <p:nvPr/>
        </p:nvSpPr>
        <p:spPr>
          <a:xfrm>
            <a:off x="661492" y="4592964"/>
            <a:ext cx="3496965" cy="604838"/>
          </a:xfrm>
          <a:prstGeom prst="rect">
            <a:avLst/>
          </a:prstGeom>
          <a:noFill/>
          <a:ln/>
        </p:spPr>
        <p:txBody>
          <a:bodyPr wrap="square" lIns="0" tIns="0" rIns="0" bIns="0" rtlCol="0" anchor="t"/>
          <a:lstStyle/>
          <a:p>
            <a:pPr>
              <a:lnSpc>
                <a:spcPts val="2375"/>
              </a:lnSpc>
            </a:pPr>
            <a:r>
              <a:rPr lang="en-US" sz="1600" dirty="0">
                <a:solidFill>
                  <a:srgbClr val="000000"/>
                </a:solidFill>
                <a:ea typeface="Nunito Sans" pitchFamily="34" charset="-122"/>
                <a:cs typeface="Nunito Sans" pitchFamily="34" charset="-120"/>
              </a:rPr>
              <a:t>Results &amp; Metrics - Performance and outcomes</a:t>
            </a:r>
            <a:endParaRPr lang="en-US" sz="1600" dirty="0"/>
          </a:p>
        </p:txBody>
      </p:sp>
      <p:sp>
        <p:nvSpPr>
          <p:cNvPr id="24" name="Text 22"/>
          <p:cNvSpPr/>
          <p:nvPr/>
        </p:nvSpPr>
        <p:spPr>
          <a:xfrm>
            <a:off x="4347468" y="4151838"/>
            <a:ext cx="189012" cy="236240"/>
          </a:xfrm>
          <a:prstGeom prst="rect">
            <a:avLst/>
          </a:prstGeom>
          <a:noFill/>
          <a:ln/>
        </p:spPr>
        <p:txBody>
          <a:bodyPr wrap="none" lIns="0" tIns="0" rIns="0" bIns="0" rtlCol="0" anchor="t"/>
          <a:lstStyle/>
          <a:p>
            <a:pPr>
              <a:lnSpc>
                <a:spcPts val="2375"/>
              </a:lnSpc>
            </a:pPr>
            <a:r>
              <a:rPr lang="en-US" sz="1600" dirty="0">
                <a:solidFill>
                  <a:srgbClr val="000000"/>
                </a:solidFill>
                <a:ea typeface="Nunito Sans Light" pitchFamily="34" charset="-122"/>
                <a:cs typeface="Nunito Sans Light" pitchFamily="34" charset="-120"/>
              </a:rPr>
              <a:t>08</a:t>
            </a:r>
            <a:endParaRPr lang="en-US" sz="1600" dirty="0"/>
          </a:p>
        </p:txBody>
      </p:sp>
      <p:sp>
        <p:nvSpPr>
          <p:cNvPr id="25" name="Shape 23"/>
          <p:cNvSpPr/>
          <p:nvPr/>
        </p:nvSpPr>
        <p:spPr>
          <a:xfrm>
            <a:off x="4347468" y="4447708"/>
            <a:ext cx="3496965" cy="25400"/>
          </a:xfrm>
          <a:prstGeom prst="rect">
            <a:avLst/>
          </a:prstGeom>
          <a:solidFill>
            <a:srgbClr val="1D1B58"/>
          </a:solidFill>
          <a:ln/>
        </p:spPr>
      </p:sp>
      <p:sp>
        <p:nvSpPr>
          <p:cNvPr id="26" name="Text 24"/>
          <p:cNvSpPr/>
          <p:nvPr/>
        </p:nvSpPr>
        <p:spPr>
          <a:xfrm>
            <a:off x="4347468" y="4592964"/>
            <a:ext cx="3496965" cy="604838"/>
          </a:xfrm>
          <a:prstGeom prst="rect">
            <a:avLst/>
          </a:prstGeom>
          <a:noFill/>
          <a:ln/>
        </p:spPr>
        <p:txBody>
          <a:bodyPr wrap="square" lIns="0" tIns="0" rIns="0" bIns="0" rtlCol="0" anchor="t"/>
          <a:lstStyle/>
          <a:p>
            <a:pPr>
              <a:lnSpc>
                <a:spcPts val="2375"/>
              </a:lnSpc>
            </a:pPr>
            <a:r>
              <a:rPr lang="en-US" sz="1600" dirty="0">
                <a:solidFill>
                  <a:srgbClr val="000000"/>
                </a:solidFill>
                <a:ea typeface="Nunito Sans" pitchFamily="34" charset="-122"/>
                <a:cs typeface="Nunito Sans" pitchFamily="34" charset="-120"/>
              </a:rPr>
              <a:t>Key Learnings - Insights from implementation</a:t>
            </a:r>
            <a:endParaRPr lang="en-US" sz="1600" dirty="0"/>
          </a:p>
        </p:txBody>
      </p:sp>
      <p:sp>
        <p:nvSpPr>
          <p:cNvPr id="27" name="Text 25"/>
          <p:cNvSpPr/>
          <p:nvPr/>
        </p:nvSpPr>
        <p:spPr>
          <a:xfrm>
            <a:off x="8033444" y="4151838"/>
            <a:ext cx="189012" cy="236240"/>
          </a:xfrm>
          <a:prstGeom prst="rect">
            <a:avLst/>
          </a:prstGeom>
          <a:noFill/>
          <a:ln/>
        </p:spPr>
        <p:txBody>
          <a:bodyPr wrap="none" lIns="0" tIns="0" rIns="0" bIns="0" rtlCol="0" anchor="t"/>
          <a:lstStyle/>
          <a:p>
            <a:pPr>
              <a:lnSpc>
                <a:spcPts val="2375"/>
              </a:lnSpc>
            </a:pPr>
            <a:r>
              <a:rPr lang="en-US" sz="1600" dirty="0">
                <a:solidFill>
                  <a:srgbClr val="000000"/>
                </a:solidFill>
                <a:ea typeface="Nunito Sans Light" pitchFamily="34" charset="-122"/>
                <a:cs typeface="Nunito Sans Light" pitchFamily="34" charset="-120"/>
              </a:rPr>
              <a:t>09</a:t>
            </a:r>
            <a:endParaRPr lang="en-US" sz="1600" dirty="0"/>
          </a:p>
        </p:txBody>
      </p:sp>
      <p:sp>
        <p:nvSpPr>
          <p:cNvPr id="28" name="Shape 26"/>
          <p:cNvSpPr/>
          <p:nvPr/>
        </p:nvSpPr>
        <p:spPr>
          <a:xfrm>
            <a:off x="8033444" y="4447708"/>
            <a:ext cx="3496965" cy="25400"/>
          </a:xfrm>
          <a:prstGeom prst="rect">
            <a:avLst/>
          </a:prstGeom>
          <a:solidFill>
            <a:srgbClr val="1D1B58"/>
          </a:solidFill>
          <a:ln/>
        </p:spPr>
      </p:sp>
      <p:sp>
        <p:nvSpPr>
          <p:cNvPr id="29" name="Text 27"/>
          <p:cNvSpPr/>
          <p:nvPr/>
        </p:nvSpPr>
        <p:spPr>
          <a:xfrm>
            <a:off x="8033444" y="4592964"/>
            <a:ext cx="3496965" cy="604838"/>
          </a:xfrm>
          <a:prstGeom prst="rect">
            <a:avLst/>
          </a:prstGeom>
          <a:noFill/>
          <a:ln/>
        </p:spPr>
        <p:txBody>
          <a:bodyPr wrap="square" lIns="0" tIns="0" rIns="0" bIns="0" rtlCol="0" anchor="t"/>
          <a:lstStyle/>
          <a:p>
            <a:pPr>
              <a:lnSpc>
                <a:spcPts val="2375"/>
              </a:lnSpc>
            </a:pPr>
            <a:r>
              <a:rPr lang="en-US" sz="1600" dirty="0">
                <a:solidFill>
                  <a:srgbClr val="000000"/>
                </a:solidFill>
                <a:ea typeface="Nunito Sans" pitchFamily="34" charset="-122"/>
                <a:cs typeface="Nunito Sans" pitchFamily="34" charset="-120"/>
              </a:rPr>
              <a:t>Future Enhancements - Next steps and improvements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347475" y="143681"/>
            <a:ext cx="5661439" cy="835440"/>
          </a:xfrm>
        </p:spPr>
        <p:txBody>
          <a:bodyPr>
            <a:normAutofit fontScale="90000"/>
          </a:bodyPr>
          <a:lstStyle/>
          <a:p>
            <a:r>
              <a:rPr lang="en-US" sz="3600" dirty="0">
                <a:solidFill>
                  <a:srgbClr val="161A3E"/>
                </a:solidFill>
                <a:latin typeface="+mn-lt"/>
                <a:ea typeface="Nunito Sans Bold" pitchFamily="34" charset="-122"/>
                <a:cs typeface="Nunito Sans Bold" pitchFamily="34" charset="-120"/>
              </a:rPr>
              <a:t>Real Time E-Commerce VoiceBot</a:t>
            </a:r>
            <a:endParaRPr lang="en-IN" dirty="0">
              <a:latin typeface="+mn-lt"/>
            </a:endParaRPr>
          </a:p>
        </p:txBody>
      </p:sp>
      <p:sp>
        <p:nvSpPr>
          <p:cNvPr id="2" name="Text 0">
            <a:extLst>
              <a:ext uri="{FF2B5EF4-FFF2-40B4-BE49-F238E27FC236}">
                <a16:creationId xmlns:a16="http://schemas.microsoft.com/office/drawing/2014/main" id="{AB5EF1D5-E6D7-E8F6-D368-157B05FD15AF}"/>
              </a:ext>
            </a:extLst>
          </p:cNvPr>
          <p:cNvSpPr/>
          <p:nvPr/>
        </p:nvSpPr>
        <p:spPr>
          <a:xfrm>
            <a:off x="269605" y="1330000"/>
            <a:ext cx="4881265" cy="590649"/>
          </a:xfrm>
          <a:prstGeom prst="rect">
            <a:avLst/>
          </a:prstGeom>
          <a:noFill/>
          <a:ln/>
        </p:spPr>
        <p:txBody>
          <a:bodyPr wrap="none" lIns="0" tIns="0" rIns="0" bIns="0" rtlCol="0" anchor="t"/>
          <a:lstStyle/>
          <a:p>
            <a:pPr>
              <a:lnSpc>
                <a:spcPts val="4625"/>
              </a:lnSpc>
            </a:pPr>
            <a:endParaRPr lang="en-US" sz="3200" dirty="0"/>
          </a:p>
        </p:txBody>
      </p:sp>
      <p:sp>
        <p:nvSpPr>
          <p:cNvPr id="3" name="Text 1">
            <a:extLst>
              <a:ext uri="{FF2B5EF4-FFF2-40B4-BE49-F238E27FC236}">
                <a16:creationId xmlns:a16="http://schemas.microsoft.com/office/drawing/2014/main" id="{9CE7E3A2-A3C7-EC60-12A7-5595A3953391}"/>
              </a:ext>
            </a:extLst>
          </p:cNvPr>
          <p:cNvSpPr/>
          <p:nvPr/>
        </p:nvSpPr>
        <p:spPr>
          <a:xfrm>
            <a:off x="661492" y="3412431"/>
            <a:ext cx="6297018" cy="907257"/>
          </a:xfrm>
          <a:prstGeom prst="rect">
            <a:avLst/>
          </a:prstGeom>
          <a:noFill/>
          <a:ln/>
        </p:spPr>
        <p:txBody>
          <a:bodyPr wrap="square" lIns="0" tIns="0" rIns="0" bIns="0" rtlCol="0" anchor="t"/>
          <a:lstStyle/>
          <a:p>
            <a:pPr>
              <a:lnSpc>
                <a:spcPts val="2375"/>
              </a:lnSpc>
            </a:pPr>
            <a:endParaRPr lang="en-US" sz="1458" dirty="0"/>
          </a:p>
        </p:txBody>
      </p:sp>
      <p:sp>
        <p:nvSpPr>
          <p:cNvPr id="8" name="Text 1">
            <a:extLst>
              <a:ext uri="{FF2B5EF4-FFF2-40B4-BE49-F238E27FC236}">
                <a16:creationId xmlns:a16="http://schemas.microsoft.com/office/drawing/2014/main" id="{5A3178DC-D9FB-C16F-2B0B-ADCD94AB205F}"/>
              </a:ext>
            </a:extLst>
          </p:cNvPr>
          <p:cNvSpPr/>
          <p:nvPr/>
        </p:nvSpPr>
        <p:spPr>
          <a:xfrm>
            <a:off x="401903" y="944515"/>
            <a:ext cx="5487268" cy="1088708"/>
          </a:xfrm>
          <a:prstGeom prst="rect">
            <a:avLst/>
          </a:prstGeom>
          <a:noFill/>
          <a:ln/>
        </p:spPr>
        <p:txBody>
          <a:bodyPr wrap="square" lIns="0" tIns="0" rIns="0" bIns="0" rtlCol="0" anchor="t"/>
          <a:lstStyle/>
          <a:p>
            <a:pPr marL="0" indent="0" algn="l">
              <a:lnSpc>
                <a:spcPts val="2850"/>
              </a:lnSpc>
              <a:buNone/>
            </a:pPr>
            <a:r>
              <a:rPr lang="en-US" sz="1400" dirty="0">
                <a:solidFill>
                  <a:srgbClr val="000000"/>
                </a:solidFill>
                <a:latin typeface="Nunito Sans" pitchFamily="34" charset="0"/>
                <a:ea typeface="Nunito Sans" pitchFamily="34" charset="-122"/>
                <a:cs typeface="Nunito Sans" pitchFamily="34" charset="-120"/>
              </a:rPr>
              <a:t>A voice-first AI assistant that delivers real-time conversational support for e-commerce platforms, bringing voice support to online shopping through natural, human-like interaction.</a:t>
            </a:r>
            <a:endParaRPr lang="en-US" sz="1400" dirty="0"/>
          </a:p>
        </p:txBody>
      </p:sp>
      <p:sp>
        <p:nvSpPr>
          <p:cNvPr id="9" name="Text 2">
            <a:extLst>
              <a:ext uri="{FF2B5EF4-FFF2-40B4-BE49-F238E27FC236}">
                <a16:creationId xmlns:a16="http://schemas.microsoft.com/office/drawing/2014/main" id="{3DD4796F-7D0C-BDF6-9741-B8216F1330C2}"/>
              </a:ext>
            </a:extLst>
          </p:cNvPr>
          <p:cNvSpPr/>
          <p:nvPr/>
        </p:nvSpPr>
        <p:spPr>
          <a:xfrm>
            <a:off x="401903" y="2160798"/>
            <a:ext cx="5487268" cy="1814513"/>
          </a:xfrm>
          <a:prstGeom prst="rect">
            <a:avLst/>
          </a:prstGeom>
          <a:noFill/>
          <a:ln/>
        </p:spPr>
        <p:txBody>
          <a:bodyPr wrap="square" lIns="0" tIns="0" rIns="0" bIns="0" rtlCol="0" anchor="t"/>
          <a:lstStyle/>
          <a:p>
            <a:pPr marL="0" indent="0" algn="l">
              <a:lnSpc>
                <a:spcPts val="2850"/>
              </a:lnSpc>
              <a:buNone/>
            </a:pPr>
            <a:r>
              <a:rPr lang="en-US" sz="1400" dirty="0">
                <a:solidFill>
                  <a:srgbClr val="000000"/>
                </a:solidFill>
                <a:latin typeface="Nunito Sans" pitchFamily="34" charset="0"/>
                <a:ea typeface="Nunito Sans" pitchFamily="34" charset="-122"/>
                <a:cs typeface="Nunito Sans" pitchFamily="34" charset="-120"/>
              </a:rPr>
              <a:t>A voicebot is an AI system that understands and responds to spoken language, making support feel faster and more intuitive than traditional chat or email. In e-commerce, that matters because customers increasingly expect quick, natural help when they have questions about products, orders, shipping, or returns.</a:t>
            </a:r>
            <a:endParaRPr lang="en-US" sz="1400" dirty="0"/>
          </a:p>
        </p:txBody>
      </p:sp>
      <p:sp>
        <p:nvSpPr>
          <p:cNvPr id="10" name="Text 3">
            <a:extLst>
              <a:ext uri="{FF2B5EF4-FFF2-40B4-BE49-F238E27FC236}">
                <a16:creationId xmlns:a16="http://schemas.microsoft.com/office/drawing/2014/main" id="{BC394C11-6848-4577-07D7-90DAF9A1D809}"/>
              </a:ext>
            </a:extLst>
          </p:cNvPr>
          <p:cNvSpPr/>
          <p:nvPr/>
        </p:nvSpPr>
        <p:spPr>
          <a:xfrm>
            <a:off x="401903" y="4154462"/>
            <a:ext cx="5487268" cy="1814513"/>
          </a:xfrm>
          <a:prstGeom prst="rect">
            <a:avLst/>
          </a:prstGeom>
          <a:noFill/>
          <a:ln/>
        </p:spPr>
        <p:txBody>
          <a:bodyPr wrap="square" lIns="0" tIns="0" rIns="0" bIns="0" rtlCol="0" anchor="t"/>
          <a:lstStyle/>
          <a:p>
            <a:pPr marL="0" indent="0" algn="l">
              <a:lnSpc>
                <a:spcPts val="2850"/>
              </a:lnSpc>
              <a:buNone/>
            </a:pPr>
            <a:r>
              <a:rPr lang="en-US" sz="1400" dirty="0">
                <a:solidFill>
                  <a:srgbClr val="000000"/>
                </a:solidFill>
                <a:latin typeface="Nunito Sans" pitchFamily="34" charset="0"/>
                <a:ea typeface="Nunito Sans" pitchFamily="34" charset="-122"/>
                <a:cs typeface="Nunito Sans" pitchFamily="34" charset="-120"/>
              </a:rPr>
              <a:t>This project solves the common frustration of slow, scripted support by enabling real-time, streaming conversations instead of the usual record-and-upload workflow. Built as a capstone project, it explores how voice AI can make online shopping support feel more immediate, accessible, and human.</a:t>
            </a:r>
            <a:endParaRPr lang="en-US" sz="1400" dirty="0"/>
          </a:p>
        </p:txBody>
      </p:sp>
      <p:pic>
        <p:nvPicPr>
          <p:cNvPr id="14" name="Picture 13">
            <a:extLst>
              <a:ext uri="{FF2B5EF4-FFF2-40B4-BE49-F238E27FC236}">
                <a16:creationId xmlns:a16="http://schemas.microsoft.com/office/drawing/2014/main" id="{B83FB260-F307-804B-5120-41F75CC1CAA0}"/>
              </a:ext>
            </a:extLst>
          </p:cNvPr>
          <p:cNvPicPr>
            <a:picLocks noChangeAspect="1"/>
          </p:cNvPicPr>
          <p:nvPr/>
        </p:nvPicPr>
        <p:blipFill>
          <a:blip r:embed="rId2"/>
          <a:stretch>
            <a:fillRect/>
          </a:stretch>
        </p:blipFill>
        <p:spPr>
          <a:xfrm>
            <a:off x="6958510" y="231772"/>
            <a:ext cx="4704373" cy="5737203"/>
          </a:xfrm>
          <a:prstGeom prst="rect">
            <a:avLst/>
          </a:prstGeom>
        </p:spPr>
      </p:pic>
    </p:spTree>
    <p:extLst>
      <p:ext uri="{BB962C8B-B14F-4D97-AF65-F5344CB8AC3E}">
        <p14:creationId xmlns:p14="http://schemas.microsoft.com/office/powerpoint/2010/main" val="2353977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466586" y="289148"/>
            <a:ext cx="10834234" cy="612775"/>
          </a:xfrm>
        </p:spPr>
        <p:txBody>
          <a:bodyPr>
            <a:noAutofit/>
          </a:bodyPr>
          <a:lstStyle/>
          <a:p>
            <a:r>
              <a:rPr lang="en-US" sz="3200" dirty="0">
                <a:solidFill>
                  <a:srgbClr val="161A3E"/>
                </a:solidFill>
                <a:latin typeface="+mn-lt"/>
                <a:ea typeface="Nunito Sans Bold" pitchFamily="34" charset="-122"/>
              </a:rPr>
              <a:t>The</a:t>
            </a:r>
            <a:r>
              <a:rPr lang="en-US" sz="3200" dirty="0">
                <a:solidFill>
                  <a:srgbClr val="161A3E"/>
                </a:solidFill>
                <a:latin typeface="+mn-lt"/>
                <a:ea typeface="Nunito Sans Bold" pitchFamily="34" charset="-122"/>
                <a:cs typeface="Nunito Sans Bold" pitchFamily="34" charset="-120"/>
              </a:rPr>
              <a:t> </a:t>
            </a:r>
            <a:r>
              <a:rPr lang="en-US" sz="3200" dirty="0">
                <a:solidFill>
                  <a:srgbClr val="161A3E"/>
                </a:solidFill>
                <a:latin typeface="+mn-lt"/>
                <a:ea typeface="Nunito Sans Bold" pitchFamily="34" charset="-122"/>
              </a:rPr>
              <a:t>Problem</a:t>
            </a:r>
            <a:endParaRPr lang="en-US" sz="3200" dirty="0">
              <a:latin typeface="+mn-lt"/>
            </a:endParaRPr>
          </a:p>
        </p:txBody>
      </p:sp>
      <p:sp>
        <p:nvSpPr>
          <p:cNvPr id="20" name="Text 13">
            <a:extLst>
              <a:ext uri="{FF2B5EF4-FFF2-40B4-BE49-F238E27FC236}">
                <a16:creationId xmlns:a16="http://schemas.microsoft.com/office/drawing/2014/main" id="{456A9CDD-E777-646F-E347-2033957F9D09}"/>
              </a:ext>
            </a:extLst>
          </p:cNvPr>
          <p:cNvSpPr/>
          <p:nvPr/>
        </p:nvSpPr>
        <p:spPr>
          <a:xfrm>
            <a:off x="504568" y="990453"/>
            <a:ext cx="10869018" cy="604838"/>
          </a:xfrm>
          <a:prstGeom prst="rect">
            <a:avLst/>
          </a:prstGeom>
          <a:noFill/>
          <a:ln/>
        </p:spPr>
        <p:txBody>
          <a:bodyPr wrap="square" lIns="0" tIns="0" rIns="0" bIns="0" rtlCol="0" anchor="t"/>
          <a:lstStyle/>
          <a:p>
            <a:pPr>
              <a:lnSpc>
                <a:spcPts val="2600"/>
              </a:lnSpc>
            </a:pPr>
            <a:r>
              <a:rPr lang="en-US" dirty="0">
                <a:solidFill>
                  <a:srgbClr val="000000"/>
                </a:solidFill>
                <a:ea typeface="Nunito Sans" pitchFamily="34" charset="-122"/>
                <a:cs typeface="Nunito Sans" pitchFamily="34" charset="-120"/>
              </a:rPr>
              <a:t>For e-commerce businesses, these problems have real consequences: lost customers, lower satisfaction, and higher support costs. A real-time voice assistant helps reduce friction and makes support feel immediate, conversational, and more human.</a:t>
            </a:r>
            <a:endParaRPr lang="en-US" dirty="0"/>
          </a:p>
        </p:txBody>
      </p:sp>
      <p:sp>
        <p:nvSpPr>
          <p:cNvPr id="21" name="Shape 1">
            <a:extLst>
              <a:ext uri="{FF2B5EF4-FFF2-40B4-BE49-F238E27FC236}">
                <a16:creationId xmlns:a16="http://schemas.microsoft.com/office/drawing/2014/main" id="{B990F6D0-AEA9-4335-7B26-89B621229364}"/>
              </a:ext>
            </a:extLst>
          </p:cNvPr>
          <p:cNvSpPr/>
          <p:nvPr/>
        </p:nvSpPr>
        <p:spPr>
          <a:xfrm>
            <a:off x="466586" y="2115230"/>
            <a:ext cx="3496965" cy="3545341"/>
          </a:xfrm>
          <a:prstGeom prst="roundRect">
            <a:avLst>
              <a:gd name="adj" fmla="val 3224"/>
            </a:avLst>
          </a:prstGeom>
          <a:solidFill>
            <a:srgbClr val="D9D8F3"/>
          </a:solidFill>
          <a:ln w="7620">
            <a:solidFill>
              <a:srgbClr val="BFBED9"/>
            </a:solidFill>
            <a:prstDash val="solid"/>
          </a:ln>
        </p:spPr>
      </p:sp>
      <p:sp>
        <p:nvSpPr>
          <p:cNvPr id="22" name="Shape 2">
            <a:extLst>
              <a:ext uri="{FF2B5EF4-FFF2-40B4-BE49-F238E27FC236}">
                <a16:creationId xmlns:a16="http://schemas.microsoft.com/office/drawing/2014/main" id="{68397314-241A-D102-B0B5-A65326891C16}"/>
              </a:ext>
            </a:extLst>
          </p:cNvPr>
          <p:cNvSpPr/>
          <p:nvPr/>
        </p:nvSpPr>
        <p:spPr>
          <a:xfrm>
            <a:off x="661947" y="2310593"/>
            <a:ext cx="567035" cy="567035"/>
          </a:xfrm>
          <a:prstGeom prst="roundRect">
            <a:avLst>
              <a:gd name="adj" fmla="val 13436980"/>
            </a:avLst>
          </a:prstGeom>
          <a:solidFill>
            <a:srgbClr val="1D1B58"/>
          </a:solidFill>
          <a:ln/>
        </p:spPr>
      </p:sp>
      <p:pic>
        <p:nvPicPr>
          <p:cNvPr id="23" name="Image 0" descr="preencoded.png">
            <a:extLst>
              <a:ext uri="{FF2B5EF4-FFF2-40B4-BE49-F238E27FC236}">
                <a16:creationId xmlns:a16="http://schemas.microsoft.com/office/drawing/2014/main" id="{1E760F8C-F096-EABB-CA13-F4D59700A3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7919" y="2466465"/>
            <a:ext cx="255092" cy="255092"/>
          </a:xfrm>
          <a:prstGeom prst="rect">
            <a:avLst/>
          </a:prstGeom>
        </p:spPr>
      </p:pic>
      <p:sp>
        <p:nvSpPr>
          <p:cNvPr id="24" name="Text 3">
            <a:extLst>
              <a:ext uri="{FF2B5EF4-FFF2-40B4-BE49-F238E27FC236}">
                <a16:creationId xmlns:a16="http://schemas.microsoft.com/office/drawing/2014/main" id="{8CB8E360-3FF1-9934-1C87-44F6D66273A8}"/>
              </a:ext>
            </a:extLst>
          </p:cNvPr>
          <p:cNvSpPr/>
          <p:nvPr/>
        </p:nvSpPr>
        <p:spPr>
          <a:xfrm>
            <a:off x="1382573" y="2426282"/>
            <a:ext cx="2776339" cy="295275"/>
          </a:xfrm>
          <a:prstGeom prst="rect">
            <a:avLst/>
          </a:prstGeom>
          <a:noFill/>
          <a:ln/>
        </p:spPr>
        <p:txBody>
          <a:bodyPr wrap="none" lIns="0" tIns="0" rIns="0" bIns="0" rtlCol="0" anchor="t"/>
          <a:lstStyle/>
          <a:p>
            <a:pPr>
              <a:lnSpc>
                <a:spcPts val="2292"/>
              </a:lnSpc>
            </a:pPr>
            <a:r>
              <a:rPr lang="en-US" b="1" dirty="0">
                <a:solidFill>
                  <a:srgbClr val="000000"/>
                </a:solidFill>
                <a:ea typeface="Nunito Sans Bold" pitchFamily="34" charset="-122"/>
                <a:cs typeface="Nunito Sans Bold" pitchFamily="34" charset="-120"/>
              </a:rPr>
              <a:t>Slow Support Experience</a:t>
            </a:r>
            <a:endParaRPr lang="en-US" dirty="0"/>
          </a:p>
        </p:txBody>
      </p:sp>
      <p:sp>
        <p:nvSpPr>
          <p:cNvPr id="25" name="Text 4">
            <a:extLst>
              <a:ext uri="{FF2B5EF4-FFF2-40B4-BE49-F238E27FC236}">
                <a16:creationId xmlns:a16="http://schemas.microsoft.com/office/drawing/2014/main" id="{10E6E56C-FCAB-6DF7-904B-76F4E7B9EF98}"/>
              </a:ext>
            </a:extLst>
          </p:cNvPr>
          <p:cNvSpPr/>
          <p:nvPr/>
        </p:nvSpPr>
        <p:spPr>
          <a:xfrm>
            <a:off x="567441" y="2958009"/>
            <a:ext cx="3295255" cy="999820"/>
          </a:xfrm>
          <a:prstGeom prst="rect">
            <a:avLst/>
          </a:prstGeom>
          <a:noFill/>
          <a:ln/>
        </p:spPr>
        <p:txBody>
          <a:bodyPr wrap="square" lIns="0" tIns="0" rIns="0" bIns="0" rtlCol="0" anchor="t"/>
          <a:lstStyle/>
          <a:p>
            <a:pPr>
              <a:lnSpc>
                <a:spcPts val="2600"/>
              </a:lnSpc>
            </a:pPr>
            <a:r>
              <a:rPr lang="en-US" sz="1400" dirty="0">
                <a:solidFill>
                  <a:srgbClr val="000000"/>
                </a:solidFill>
                <a:ea typeface="Nunito Sans" pitchFamily="34" charset="-122"/>
                <a:cs typeface="Nunito Sans" pitchFamily="34" charset="-120"/>
              </a:rPr>
              <a:t>Customers have to type their questions, click through menus, and wait for responses, which takes time and makes support feel clunky and impersonal. That friction adds up quickly: customers get frustrated, support agents get overwhelmed, and simple issues take longer to resolve than they should.</a:t>
            </a:r>
            <a:endParaRPr lang="en-US" sz="1400" dirty="0"/>
          </a:p>
        </p:txBody>
      </p:sp>
      <p:sp>
        <p:nvSpPr>
          <p:cNvPr id="26" name="Shape 5">
            <a:extLst>
              <a:ext uri="{FF2B5EF4-FFF2-40B4-BE49-F238E27FC236}">
                <a16:creationId xmlns:a16="http://schemas.microsoft.com/office/drawing/2014/main" id="{11EB5DFD-D2A6-E29F-D466-C0E9CF4BD002}"/>
              </a:ext>
            </a:extLst>
          </p:cNvPr>
          <p:cNvSpPr/>
          <p:nvPr/>
        </p:nvSpPr>
        <p:spPr>
          <a:xfrm>
            <a:off x="4152562" y="2115231"/>
            <a:ext cx="3496965" cy="3545340"/>
          </a:xfrm>
          <a:prstGeom prst="roundRect">
            <a:avLst>
              <a:gd name="adj" fmla="val 3224"/>
            </a:avLst>
          </a:prstGeom>
          <a:solidFill>
            <a:srgbClr val="D9D8F3"/>
          </a:solidFill>
          <a:ln w="7620">
            <a:solidFill>
              <a:srgbClr val="BFBED9"/>
            </a:solidFill>
            <a:prstDash val="solid"/>
          </a:ln>
        </p:spPr>
      </p:sp>
      <p:sp>
        <p:nvSpPr>
          <p:cNvPr id="27" name="Shape 6">
            <a:extLst>
              <a:ext uri="{FF2B5EF4-FFF2-40B4-BE49-F238E27FC236}">
                <a16:creationId xmlns:a16="http://schemas.microsoft.com/office/drawing/2014/main" id="{B631726D-9BBD-749F-DA92-2E354CBFD215}"/>
              </a:ext>
            </a:extLst>
          </p:cNvPr>
          <p:cNvSpPr/>
          <p:nvPr/>
        </p:nvSpPr>
        <p:spPr>
          <a:xfrm>
            <a:off x="4347924" y="2310593"/>
            <a:ext cx="567035" cy="567035"/>
          </a:xfrm>
          <a:prstGeom prst="roundRect">
            <a:avLst>
              <a:gd name="adj" fmla="val 13436980"/>
            </a:avLst>
          </a:prstGeom>
          <a:solidFill>
            <a:srgbClr val="1D1B58"/>
          </a:solidFill>
          <a:ln/>
        </p:spPr>
      </p:sp>
      <p:pic>
        <p:nvPicPr>
          <p:cNvPr id="28" name="Image 1" descr="preencoded.png">
            <a:extLst>
              <a:ext uri="{FF2B5EF4-FFF2-40B4-BE49-F238E27FC236}">
                <a16:creationId xmlns:a16="http://schemas.microsoft.com/office/drawing/2014/main" id="{A715A4FB-A6A9-6D7F-C901-452621C020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03896" y="2466465"/>
            <a:ext cx="255092" cy="255092"/>
          </a:xfrm>
          <a:prstGeom prst="rect">
            <a:avLst/>
          </a:prstGeom>
        </p:spPr>
      </p:pic>
      <p:sp>
        <p:nvSpPr>
          <p:cNvPr id="29" name="Text 7">
            <a:extLst>
              <a:ext uri="{FF2B5EF4-FFF2-40B4-BE49-F238E27FC236}">
                <a16:creationId xmlns:a16="http://schemas.microsoft.com/office/drawing/2014/main" id="{EF46ACAD-821D-0629-373A-641463787654}"/>
              </a:ext>
            </a:extLst>
          </p:cNvPr>
          <p:cNvSpPr/>
          <p:nvPr/>
        </p:nvSpPr>
        <p:spPr>
          <a:xfrm>
            <a:off x="5167535" y="2466465"/>
            <a:ext cx="2362696" cy="295275"/>
          </a:xfrm>
          <a:prstGeom prst="rect">
            <a:avLst/>
          </a:prstGeom>
          <a:noFill/>
          <a:ln/>
        </p:spPr>
        <p:txBody>
          <a:bodyPr wrap="none" lIns="0" tIns="0" rIns="0" bIns="0" rtlCol="0" anchor="t"/>
          <a:lstStyle/>
          <a:p>
            <a:pPr>
              <a:lnSpc>
                <a:spcPts val="2292"/>
              </a:lnSpc>
            </a:pPr>
            <a:r>
              <a:rPr lang="en-US" b="1" dirty="0">
                <a:solidFill>
                  <a:srgbClr val="000000"/>
                </a:solidFill>
                <a:ea typeface="Nunito Sans Bold" pitchFamily="34" charset="-122"/>
                <a:cs typeface="Nunito Sans Bold" pitchFamily="34" charset="-120"/>
              </a:rPr>
              <a:t>Customer Preference</a:t>
            </a:r>
            <a:endParaRPr lang="en-US" dirty="0"/>
          </a:p>
        </p:txBody>
      </p:sp>
      <p:sp>
        <p:nvSpPr>
          <p:cNvPr id="30" name="Text 8">
            <a:extLst>
              <a:ext uri="{FF2B5EF4-FFF2-40B4-BE49-F238E27FC236}">
                <a16:creationId xmlns:a16="http://schemas.microsoft.com/office/drawing/2014/main" id="{18DCD259-0AA5-CD65-69C3-3290D2944CFB}"/>
              </a:ext>
            </a:extLst>
          </p:cNvPr>
          <p:cNvSpPr/>
          <p:nvPr/>
        </p:nvSpPr>
        <p:spPr>
          <a:xfrm>
            <a:off x="4347923" y="2966158"/>
            <a:ext cx="3182308" cy="907257"/>
          </a:xfrm>
          <a:prstGeom prst="rect">
            <a:avLst/>
          </a:prstGeom>
          <a:noFill/>
          <a:ln/>
        </p:spPr>
        <p:txBody>
          <a:bodyPr wrap="square" lIns="0" tIns="0" rIns="0" bIns="0" rtlCol="0" anchor="t"/>
          <a:lstStyle/>
          <a:p>
            <a:pPr>
              <a:lnSpc>
                <a:spcPts val="2600"/>
              </a:lnSpc>
            </a:pPr>
            <a:r>
              <a:rPr lang="en-US" sz="1400" dirty="0">
                <a:solidFill>
                  <a:srgbClr val="000000"/>
                </a:solidFill>
                <a:latin typeface="Nunito Sans" pitchFamily="34" charset="0"/>
                <a:ea typeface="Nunito Sans" pitchFamily="34" charset="-122"/>
                <a:cs typeface="Nunito Sans" pitchFamily="34" charset="-120"/>
              </a:rPr>
              <a:t>71% of customers prefer voice for complex support interactions because it is faster, more natural, and easier to use than typing. It is also hands-free, which makes it more convenient in busy moments, and it improves accessibility for users who may struggle with text-based support.</a:t>
            </a:r>
            <a:endParaRPr lang="en-US" sz="1400" dirty="0"/>
          </a:p>
          <a:p>
            <a:pPr>
              <a:lnSpc>
                <a:spcPts val="2600"/>
              </a:lnSpc>
            </a:pPr>
            <a:endParaRPr lang="en-US" sz="1400" dirty="0">
              <a:solidFill>
                <a:srgbClr val="000000"/>
              </a:solidFill>
            </a:endParaRPr>
          </a:p>
        </p:txBody>
      </p:sp>
      <p:sp>
        <p:nvSpPr>
          <p:cNvPr id="31" name="Shape 9">
            <a:extLst>
              <a:ext uri="{FF2B5EF4-FFF2-40B4-BE49-F238E27FC236}">
                <a16:creationId xmlns:a16="http://schemas.microsoft.com/office/drawing/2014/main" id="{D0842A4E-D5CB-34D0-6BC7-9AAA38FCF111}"/>
              </a:ext>
            </a:extLst>
          </p:cNvPr>
          <p:cNvSpPr/>
          <p:nvPr/>
        </p:nvSpPr>
        <p:spPr>
          <a:xfrm>
            <a:off x="7838538" y="2115230"/>
            <a:ext cx="3496965" cy="3632426"/>
          </a:xfrm>
          <a:prstGeom prst="roundRect">
            <a:avLst>
              <a:gd name="adj" fmla="val 3224"/>
            </a:avLst>
          </a:prstGeom>
          <a:solidFill>
            <a:srgbClr val="D9D8F3"/>
          </a:solidFill>
          <a:ln w="7620">
            <a:solidFill>
              <a:srgbClr val="BFBED9"/>
            </a:solidFill>
            <a:prstDash val="solid"/>
          </a:ln>
        </p:spPr>
      </p:sp>
      <p:sp>
        <p:nvSpPr>
          <p:cNvPr id="32" name="Shape 10">
            <a:extLst>
              <a:ext uri="{FF2B5EF4-FFF2-40B4-BE49-F238E27FC236}">
                <a16:creationId xmlns:a16="http://schemas.microsoft.com/office/drawing/2014/main" id="{DCF302B4-41D5-1CCE-A9D8-FD8439CF5DE4}"/>
              </a:ext>
            </a:extLst>
          </p:cNvPr>
          <p:cNvSpPr/>
          <p:nvPr/>
        </p:nvSpPr>
        <p:spPr>
          <a:xfrm>
            <a:off x="8033901" y="2310593"/>
            <a:ext cx="567035" cy="567035"/>
          </a:xfrm>
          <a:prstGeom prst="roundRect">
            <a:avLst>
              <a:gd name="adj" fmla="val 13436980"/>
            </a:avLst>
          </a:prstGeom>
          <a:solidFill>
            <a:srgbClr val="1D1B58"/>
          </a:solidFill>
          <a:ln/>
        </p:spPr>
      </p:sp>
      <p:pic>
        <p:nvPicPr>
          <p:cNvPr id="33" name="Image 2" descr="preencoded.png">
            <a:extLst>
              <a:ext uri="{FF2B5EF4-FFF2-40B4-BE49-F238E27FC236}">
                <a16:creationId xmlns:a16="http://schemas.microsoft.com/office/drawing/2014/main" id="{C3EB381C-ECF0-6241-869F-23D67D14D75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89872" y="2466465"/>
            <a:ext cx="255092" cy="255092"/>
          </a:xfrm>
          <a:prstGeom prst="rect">
            <a:avLst/>
          </a:prstGeom>
        </p:spPr>
      </p:pic>
      <p:sp>
        <p:nvSpPr>
          <p:cNvPr id="34" name="Text 11">
            <a:extLst>
              <a:ext uri="{FF2B5EF4-FFF2-40B4-BE49-F238E27FC236}">
                <a16:creationId xmlns:a16="http://schemas.microsoft.com/office/drawing/2014/main" id="{65359E11-5E68-B564-0461-6B7B12D0E7B0}"/>
              </a:ext>
            </a:extLst>
          </p:cNvPr>
          <p:cNvSpPr/>
          <p:nvPr/>
        </p:nvSpPr>
        <p:spPr>
          <a:xfrm>
            <a:off x="8972807" y="2426281"/>
            <a:ext cx="2362696" cy="295275"/>
          </a:xfrm>
          <a:prstGeom prst="rect">
            <a:avLst/>
          </a:prstGeom>
          <a:noFill/>
          <a:ln/>
        </p:spPr>
        <p:txBody>
          <a:bodyPr wrap="none" lIns="0" tIns="0" rIns="0" bIns="0" rtlCol="0" anchor="t"/>
          <a:lstStyle/>
          <a:p>
            <a:pPr>
              <a:lnSpc>
                <a:spcPts val="2292"/>
              </a:lnSpc>
            </a:pPr>
            <a:r>
              <a:rPr lang="en-US" b="1" dirty="0">
                <a:solidFill>
                  <a:srgbClr val="000000"/>
                </a:solidFill>
                <a:ea typeface="Nunito Sans Bold" pitchFamily="34" charset="-122"/>
                <a:cs typeface="Nunito Sans Bold" pitchFamily="34" charset="-120"/>
              </a:rPr>
              <a:t>Old Voice Bots</a:t>
            </a:r>
            <a:endParaRPr lang="en-US" dirty="0"/>
          </a:p>
        </p:txBody>
      </p:sp>
      <p:sp>
        <p:nvSpPr>
          <p:cNvPr id="35" name="Text 12">
            <a:extLst>
              <a:ext uri="{FF2B5EF4-FFF2-40B4-BE49-F238E27FC236}">
                <a16:creationId xmlns:a16="http://schemas.microsoft.com/office/drawing/2014/main" id="{E9705A55-A6AA-2A06-0948-ED913380E076}"/>
              </a:ext>
            </a:extLst>
          </p:cNvPr>
          <p:cNvSpPr/>
          <p:nvPr/>
        </p:nvSpPr>
        <p:spPr>
          <a:xfrm>
            <a:off x="7957458" y="2958009"/>
            <a:ext cx="3343362" cy="604838"/>
          </a:xfrm>
          <a:prstGeom prst="rect">
            <a:avLst/>
          </a:prstGeom>
          <a:noFill/>
          <a:ln/>
        </p:spPr>
        <p:txBody>
          <a:bodyPr wrap="square" lIns="0" tIns="0" rIns="0" bIns="0" rtlCol="0" anchor="t"/>
          <a:lstStyle/>
          <a:p>
            <a:pPr>
              <a:lnSpc>
                <a:spcPts val="2600"/>
              </a:lnSpc>
            </a:pPr>
            <a:r>
              <a:rPr lang="en-US" sz="1400" dirty="0">
                <a:solidFill>
                  <a:srgbClr val="000000"/>
                </a:solidFill>
                <a:latin typeface="Nunito Sans" pitchFamily="34" charset="0"/>
                <a:ea typeface="Nunito Sans" pitchFamily="34" charset="-122"/>
                <a:cs typeface="Nunito Sans" pitchFamily="34" charset="-120"/>
              </a:rPr>
              <a:t>Traditional voice systems often rely on HTTP file uploads, which means the audio has to be recorded, sent, processed, and returned before the conversation can continue. That creates high latency, prevents real-time interaction, and leads to a poor user experience that feels delayed and unnatural.</a:t>
            </a:r>
            <a:endParaRPr lang="en-US" sz="1400" dirty="0"/>
          </a:p>
        </p:txBody>
      </p:sp>
    </p:spTree>
    <p:extLst>
      <p:ext uri="{BB962C8B-B14F-4D97-AF65-F5344CB8AC3E}">
        <p14:creationId xmlns:p14="http://schemas.microsoft.com/office/powerpoint/2010/main" val="2448442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852786"/>
            <a:ext cx="4725492" cy="590649"/>
          </a:xfrm>
          <a:prstGeom prst="rect">
            <a:avLst/>
          </a:prstGeom>
          <a:noFill/>
          <a:ln/>
        </p:spPr>
        <p:txBody>
          <a:bodyPr wrap="none" lIns="0" tIns="0" rIns="0" bIns="0" rtlCol="0" anchor="t"/>
          <a:lstStyle/>
          <a:p>
            <a:pPr>
              <a:lnSpc>
                <a:spcPts val="4625"/>
              </a:lnSpc>
            </a:pPr>
            <a:endParaRPr lang="en-US" sz="3708" dirty="0"/>
          </a:p>
        </p:txBody>
      </p:sp>
      <p:pic>
        <p:nvPicPr>
          <p:cNvPr id="3" name="Image 0" descr="preencoded.png"/>
          <p:cNvPicPr>
            <a:picLocks noChangeAspect="1"/>
          </p:cNvPicPr>
          <p:nvPr/>
        </p:nvPicPr>
        <p:blipFill>
          <a:blip r:embed="rId3"/>
          <a:stretch>
            <a:fillRect/>
          </a:stretch>
        </p:blipFill>
        <p:spPr>
          <a:xfrm>
            <a:off x="280493" y="1573085"/>
            <a:ext cx="3570514" cy="3400042"/>
          </a:xfrm>
          <a:prstGeom prst="rect">
            <a:avLst/>
          </a:prstGeom>
        </p:spPr>
      </p:pic>
      <p:sp>
        <p:nvSpPr>
          <p:cNvPr id="9" name="Title 8">
            <a:extLst>
              <a:ext uri="{FF2B5EF4-FFF2-40B4-BE49-F238E27FC236}">
                <a16:creationId xmlns:a16="http://schemas.microsoft.com/office/drawing/2014/main" id="{1FDEE525-7865-49D9-EFB7-E0A214D26875}"/>
              </a:ext>
            </a:extLst>
          </p:cNvPr>
          <p:cNvSpPr>
            <a:spLocks noGrp="1"/>
          </p:cNvSpPr>
          <p:nvPr>
            <p:ph type="title"/>
          </p:nvPr>
        </p:nvSpPr>
        <p:spPr>
          <a:xfrm>
            <a:off x="4858040" y="133689"/>
            <a:ext cx="6795222" cy="476999"/>
          </a:xfrm>
        </p:spPr>
        <p:txBody>
          <a:bodyPr>
            <a:normAutofit/>
          </a:bodyPr>
          <a:lstStyle/>
          <a:p>
            <a:r>
              <a:rPr lang="en-US" sz="3200" dirty="0">
                <a:solidFill>
                  <a:srgbClr val="161A3E"/>
                </a:solidFill>
                <a:latin typeface="+mn-lt"/>
                <a:ea typeface="Nunito Sans Bold" pitchFamily="34" charset="-122"/>
                <a:cs typeface="Nunito Sans Bold" pitchFamily="34" charset="-120"/>
              </a:rPr>
              <a:t>Solution – A </a:t>
            </a:r>
            <a:r>
              <a:rPr lang="en-US" sz="3200" dirty="0">
                <a:solidFill>
                  <a:srgbClr val="161A3E"/>
                </a:solidFill>
                <a:ea typeface="Nunito Sans Bold" pitchFamily="34" charset="-122"/>
                <a:cs typeface="Nunito Sans Bold" pitchFamily="34" charset="-120"/>
              </a:rPr>
              <a:t>Voice-First Experience</a:t>
            </a:r>
            <a:endParaRPr lang="en-IN" sz="3200" dirty="0">
              <a:latin typeface="+mn-lt"/>
            </a:endParaRPr>
          </a:p>
        </p:txBody>
      </p:sp>
      <p:sp>
        <p:nvSpPr>
          <p:cNvPr id="11" name="Text 2">
            <a:extLst>
              <a:ext uri="{FF2B5EF4-FFF2-40B4-BE49-F238E27FC236}">
                <a16:creationId xmlns:a16="http://schemas.microsoft.com/office/drawing/2014/main" id="{58D8726B-CD5B-3283-2E07-3FEBA38039F8}"/>
              </a:ext>
            </a:extLst>
          </p:cNvPr>
          <p:cNvSpPr/>
          <p:nvPr/>
        </p:nvSpPr>
        <p:spPr>
          <a:xfrm>
            <a:off x="4702629" y="859984"/>
            <a:ext cx="7315200" cy="647938"/>
          </a:xfrm>
          <a:prstGeom prst="rect">
            <a:avLst/>
          </a:prstGeom>
          <a:noFill/>
          <a:ln/>
        </p:spPr>
        <p:txBody>
          <a:bodyPr wrap="square" lIns="0" tIns="0" rIns="0" bIns="0" rtlCol="0" anchor="t"/>
          <a:lstStyle/>
          <a:p>
            <a:pPr marL="0" indent="0" algn="l">
              <a:lnSpc>
                <a:spcPts val="1700"/>
              </a:lnSpc>
              <a:buNone/>
            </a:pPr>
            <a:r>
              <a:rPr lang="en-US" sz="1600" dirty="0">
                <a:solidFill>
                  <a:srgbClr val="000000"/>
                </a:solidFill>
                <a:ea typeface="Nunito Sans" pitchFamily="34" charset="-122"/>
                <a:cs typeface="Nunito Sans" pitchFamily="34" charset="-120"/>
              </a:rPr>
              <a:t>A real-time voice assistant that captures your voice, understands what you say, thinks of an answer, and speaks back to you in just a few seconds.</a:t>
            </a:r>
            <a:endParaRPr lang="en-US" sz="1600" dirty="0"/>
          </a:p>
        </p:txBody>
      </p:sp>
      <p:sp>
        <p:nvSpPr>
          <p:cNvPr id="12" name="Text 3">
            <a:extLst>
              <a:ext uri="{FF2B5EF4-FFF2-40B4-BE49-F238E27FC236}">
                <a16:creationId xmlns:a16="http://schemas.microsoft.com/office/drawing/2014/main" id="{0932A407-146B-4ABB-F08E-D2BD0B3D20DC}"/>
              </a:ext>
            </a:extLst>
          </p:cNvPr>
          <p:cNvSpPr/>
          <p:nvPr/>
        </p:nvSpPr>
        <p:spPr>
          <a:xfrm>
            <a:off x="4702629" y="1543448"/>
            <a:ext cx="7315200" cy="863918"/>
          </a:xfrm>
          <a:prstGeom prst="rect">
            <a:avLst/>
          </a:prstGeom>
          <a:noFill/>
          <a:ln/>
        </p:spPr>
        <p:txBody>
          <a:bodyPr wrap="square" lIns="0" tIns="0" rIns="0" bIns="0" rtlCol="0" anchor="t"/>
          <a:lstStyle/>
          <a:p>
            <a:pPr marL="0" indent="0" algn="l">
              <a:lnSpc>
                <a:spcPts val="1700"/>
              </a:lnSpc>
              <a:buNone/>
            </a:pPr>
            <a:r>
              <a:rPr lang="en-US" sz="1600" b="1" dirty="0">
                <a:solidFill>
                  <a:srgbClr val="000000"/>
                </a:solidFill>
                <a:ea typeface="Nunito Sans" pitchFamily="34" charset="-122"/>
                <a:cs typeface="Nunito Sans" pitchFamily="34" charset="-120"/>
              </a:rPr>
              <a:t>What makes it different:</a:t>
            </a:r>
            <a:r>
              <a:rPr lang="en-US" sz="1600" dirty="0">
                <a:solidFill>
                  <a:srgbClr val="000000"/>
                </a:solidFill>
                <a:ea typeface="Nunito Sans" pitchFamily="34" charset="-122"/>
                <a:cs typeface="Nunito Sans" pitchFamily="34" charset="-120"/>
              </a:rPr>
              <a:t> instead of recording and uploading audio files, the assistant uses </a:t>
            </a:r>
            <a:r>
              <a:rPr lang="en-US" sz="1600" b="1" dirty="0">
                <a:solidFill>
                  <a:srgbClr val="000000"/>
                </a:solidFill>
                <a:ea typeface="Nunito Sans" pitchFamily="34" charset="-122"/>
                <a:cs typeface="Nunito Sans" pitchFamily="34" charset="-120"/>
              </a:rPr>
              <a:t>real-time WebRTC streaming</a:t>
            </a:r>
            <a:r>
              <a:rPr lang="en-US" sz="1600" dirty="0">
                <a:solidFill>
                  <a:srgbClr val="000000"/>
                </a:solidFill>
                <a:ea typeface="Nunito Sans" pitchFamily="34" charset="-122"/>
                <a:cs typeface="Nunito Sans" pitchFamily="34" charset="-120"/>
              </a:rPr>
              <a:t> so voice is processed live with much lower latency and a more natural conversation flow.</a:t>
            </a:r>
            <a:endParaRPr lang="en-US" sz="1600" dirty="0"/>
          </a:p>
        </p:txBody>
      </p:sp>
      <p:sp>
        <p:nvSpPr>
          <p:cNvPr id="13" name="Text 4">
            <a:extLst>
              <a:ext uri="{FF2B5EF4-FFF2-40B4-BE49-F238E27FC236}">
                <a16:creationId xmlns:a16="http://schemas.microsoft.com/office/drawing/2014/main" id="{EC80F5D2-EFC0-2FA4-6298-649FA6D56290}"/>
              </a:ext>
            </a:extLst>
          </p:cNvPr>
          <p:cNvSpPr/>
          <p:nvPr/>
        </p:nvSpPr>
        <p:spPr>
          <a:xfrm>
            <a:off x="4702629" y="2507378"/>
            <a:ext cx="7315200" cy="863918"/>
          </a:xfrm>
          <a:prstGeom prst="rect">
            <a:avLst/>
          </a:prstGeom>
          <a:noFill/>
          <a:ln/>
        </p:spPr>
        <p:txBody>
          <a:bodyPr wrap="square" lIns="0" tIns="0" rIns="0" bIns="0" rtlCol="0" anchor="t"/>
          <a:lstStyle/>
          <a:p>
            <a:pPr marL="0" indent="0" algn="l">
              <a:lnSpc>
                <a:spcPts val="1700"/>
              </a:lnSpc>
              <a:buNone/>
            </a:pPr>
            <a:r>
              <a:rPr lang="en-US" sz="1600" b="1" dirty="0">
                <a:solidFill>
                  <a:srgbClr val="000000"/>
                </a:solidFill>
                <a:ea typeface="Nunito Sans" pitchFamily="34" charset="-122"/>
                <a:cs typeface="Nunito Sans" pitchFamily="34" charset="-120"/>
              </a:rPr>
              <a:t>How it works end to end:</a:t>
            </a:r>
            <a:r>
              <a:rPr lang="en-US" sz="1600" dirty="0">
                <a:solidFill>
                  <a:srgbClr val="000000"/>
                </a:solidFill>
                <a:ea typeface="Nunito Sans" pitchFamily="34" charset="-122"/>
                <a:cs typeface="Nunito Sans" pitchFamily="34" charset="-120"/>
              </a:rPr>
              <a:t> user speaks → the system listens and understands → the AI generates a response → the system speaks back, typically completing the full interaction in </a:t>
            </a:r>
            <a:r>
              <a:rPr lang="en-US" sz="1600" b="1" dirty="0">
                <a:solidFill>
                  <a:srgbClr val="000000"/>
                </a:solidFill>
                <a:ea typeface="Nunito Sans" pitchFamily="34" charset="-122"/>
                <a:cs typeface="Nunito Sans" pitchFamily="34" charset="-120"/>
              </a:rPr>
              <a:t>2–4 seconds</a:t>
            </a:r>
            <a:r>
              <a:rPr lang="en-US" sz="1600" dirty="0">
                <a:solidFill>
                  <a:srgbClr val="000000"/>
                </a:solidFill>
                <a:ea typeface="Nunito Sans" pitchFamily="34" charset="-122"/>
                <a:cs typeface="Nunito Sans" pitchFamily="34" charset="-120"/>
              </a:rPr>
              <a:t>.</a:t>
            </a:r>
            <a:endParaRPr lang="en-US" sz="1600" dirty="0"/>
          </a:p>
        </p:txBody>
      </p:sp>
      <p:sp>
        <p:nvSpPr>
          <p:cNvPr id="14" name="Text 5">
            <a:extLst>
              <a:ext uri="{FF2B5EF4-FFF2-40B4-BE49-F238E27FC236}">
                <a16:creationId xmlns:a16="http://schemas.microsoft.com/office/drawing/2014/main" id="{C3B430AE-DCB6-AB13-12C3-D38557772897}"/>
              </a:ext>
            </a:extLst>
          </p:cNvPr>
          <p:cNvSpPr/>
          <p:nvPr/>
        </p:nvSpPr>
        <p:spPr>
          <a:xfrm>
            <a:off x="4702629" y="3486705"/>
            <a:ext cx="7315200" cy="863918"/>
          </a:xfrm>
          <a:prstGeom prst="rect">
            <a:avLst/>
          </a:prstGeom>
          <a:noFill/>
          <a:ln/>
        </p:spPr>
        <p:txBody>
          <a:bodyPr wrap="square" lIns="0" tIns="0" rIns="0" bIns="0" rtlCol="0" anchor="t"/>
          <a:lstStyle/>
          <a:p>
            <a:pPr marL="0" indent="0" algn="l">
              <a:lnSpc>
                <a:spcPts val="1700"/>
              </a:lnSpc>
              <a:buNone/>
            </a:pPr>
            <a:r>
              <a:rPr lang="en-US" sz="1600" b="1" dirty="0">
                <a:solidFill>
                  <a:srgbClr val="000000"/>
                </a:solidFill>
                <a:ea typeface="Nunito Sans" pitchFamily="34" charset="-122"/>
                <a:cs typeface="Nunito Sans" pitchFamily="34" charset="-120"/>
              </a:rPr>
              <a:t>Key capabilities:</a:t>
            </a:r>
            <a:r>
              <a:rPr lang="en-US" sz="1600" dirty="0">
                <a:solidFill>
                  <a:srgbClr val="000000"/>
                </a:solidFill>
                <a:ea typeface="Nunito Sans" pitchFamily="34" charset="-122"/>
                <a:cs typeface="Nunito Sans" pitchFamily="34" charset="-120"/>
              </a:rPr>
              <a:t> it can handle order tracking, product questions, and policy inquiries, with </a:t>
            </a:r>
            <a:r>
              <a:rPr lang="en-US" sz="1600" b="1" dirty="0">
                <a:solidFill>
                  <a:srgbClr val="000000"/>
                </a:solidFill>
                <a:ea typeface="Nunito Sans" pitchFamily="34" charset="-122"/>
                <a:cs typeface="Nunito Sans" pitchFamily="34" charset="-120"/>
              </a:rPr>
              <a:t>RAG lookup</a:t>
            </a:r>
            <a:r>
              <a:rPr lang="en-US" sz="1600" dirty="0">
                <a:solidFill>
                  <a:srgbClr val="000000"/>
                </a:solidFill>
                <a:ea typeface="Nunito Sans" pitchFamily="34" charset="-122"/>
                <a:cs typeface="Nunito Sans" pitchFamily="34" charset="-120"/>
              </a:rPr>
              <a:t> used to ground answers in relevant product and support information.</a:t>
            </a:r>
            <a:endParaRPr lang="en-US" sz="1600" dirty="0"/>
          </a:p>
        </p:txBody>
      </p:sp>
      <p:sp>
        <p:nvSpPr>
          <p:cNvPr id="15" name="Text 6">
            <a:extLst>
              <a:ext uri="{FF2B5EF4-FFF2-40B4-BE49-F238E27FC236}">
                <a16:creationId xmlns:a16="http://schemas.microsoft.com/office/drawing/2014/main" id="{82704420-65D7-E883-F607-5E1BF72ED349}"/>
              </a:ext>
            </a:extLst>
          </p:cNvPr>
          <p:cNvSpPr/>
          <p:nvPr/>
        </p:nvSpPr>
        <p:spPr>
          <a:xfrm>
            <a:off x="4702629" y="4325189"/>
            <a:ext cx="7315200" cy="647938"/>
          </a:xfrm>
          <a:prstGeom prst="rect">
            <a:avLst/>
          </a:prstGeom>
          <a:noFill/>
          <a:ln/>
        </p:spPr>
        <p:txBody>
          <a:bodyPr wrap="square" lIns="0" tIns="0" rIns="0" bIns="0" rtlCol="0" anchor="t"/>
          <a:lstStyle/>
          <a:p>
            <a:pPr marL="0" indent="0" algn="l">
              <a:lnSpc>
                <a:spcPts val="1700"/>
              </a:lnSpc>
              <a:buNone/>
            </a:pPr>
            <a:r>
              <a:rPr lang="en-US" sz="1600" b="1" dirty="0">
                <a:solidFill>
                  <a:srgbClr val="000000"/>
                </a:solidFill>
                <a:ea typeface="Nunito Sans" pitchFamily="34" charset="-122"/>
                <a:cs typeface="Nunito Sans" pitchFamily="34" charset="-120"/>
              </a:rPr>
              <a:t>Technical advantage:</a:t>
            </a:r>
            <a:r>
              <a:rPr lang="en-US" sz="1600" dirty="0">
                <a:solidFill>
                  <a:srgbClr val="000000"/>
                </a:solidFill>
                <a:ea typeface="Nunito Sans" pitchFamily="34" charset="-122"/>
                <a:cs typeface="Nunito Sans" pitchFamily="34" charset="-120"/>
              </a:rPr>
              <a:t> a </a:t>
            </a:r>
            <a:r>
              <a:rPr lang="en-US" sz="1600" b="1" dirty="0">
                <a:solidFill>
                  <a:srgbClr val="000000"/>
                </a:solidFill>
                <a:ea typeface="Nunito Sans" pitchFamily="34" charset="-122"/>
                <a:cs typeface="Nunito Sans" pitchFamily="34" charset="-120"/>
              </a:rPr>
              <a:t>hybrid LLM approach</a:t>
            </a:r>
            <a:r>
              <a:rPr lang="en-US" sz="1600" dirty="0">
                <a:solidFill>
                  <a:srgbClr val="000000"/>
                </a:solidFill>
                <a:ea typeface="Nunito Sans" pitchFamily="34" charset="-122"/>
                <a:cs typeface="Nunito Sans" pitchFamily="34" charset="-120"/>
              </a:rPr>
              <a:t> using OpenAI or Ollama helps ensure the assistant stays available and reliable, even if one model path is unavailable.</a:t>
            </a:r>
            <a:endParaRPr lang="en-US" sz="1600" dirty="0"/>
          </a:p>
        </p:txBody>
      </p:sp>
      <p:sp>
        <p:nvSpPr>
          <p:cNvPr id="16" name="Text 7">
            <a:extLst>
              <a:ext uri="{FF2B5EF4-FFF2-40B4-BE49-F238E27FC236}">
                <a16:creationId xmlns:a16="http://schemas.microsoft.com/office/drawing/2014/main" id="{4C748AF9-7EFC-C788-15D3-8202185BB749}"/>
              </a:ext>
            </a:extLst>
          </p:cNvPr>
          <p:cNvSpPr/>
          <p:nvPr/>
        </p:nvSpPr>
        <p:spPr>
          <a:xfrm>
            <a:off x="4702629" y="5083176"/>
            <a:ext cx="7315200" cy="980361"/>
          </a:xfrm>
          <a:prstGeom prst="rect">
            <a:avLst/>
          </a:prstGeom>
          <a:noFill/>
          <a:ln/>
        </p:spPr>
        <p:txBody>
          <a:bodyPr wrap="square" lIns="0" tIns="0" rIns="0" bIns="0" rtlCol="0" anchor="t"/>
          <a:lstStyle/>
          <a:p>
            <a:pPr marL="342900" indent="-342900" algn="l">
              <a:lnSpc>
                <a:spcPts val="1700"/>
              </a:lnSpc>
              <a:buSzPct val="100000"/>
              <a:buChar char="•"/>
            </a:pPr>
            <a:r>
              <a:rPr lang="en-US" sz="1600" dirty="0">
                <a:solidFill>
                  <a:srgbClr val="000000"/>
                </a:solidFill>
                <a:ea typeface="Nunito Sans" pitchFamily="34" charset="-122"/>
                <a:cs typeface="Nunito Sans" pitchFamily="34" charset="-120"/>
              </a:rPr>
              <a:t>Talk naturally instead of typing</a:t>
            </a:r>
            <a:endParaRPr lang="en-US" sz="1600" dirty="0"/>
          </a:p>
          <a:p>
            <a:pPr marL="342900" indent="-342900" algn="l">
              <a:lnSpc>
                <a:spcPts val="1700"/>
              </a:lnSpc>
              <a:buSzPct val="100000"/>
              <a:buChar char="•"/>
            </a:pPr>
            <a:r>
              <a:rPr lang="en-US" sz="1600" dirty="0">
                <a:solidFill>
                  <a:srgbClr val="000000"/>
                </a:solidFill>
                <a:ea typeface="Nunito Sans" pitchFamily="34" charset="-122"/>
                <a:cs typeface="Nunito Sans" pitchFamily="34" charset="-120"/>
              </a:rPr>
              <a:t>Get quick, spoken answers</a:t>
            </a:r>
            <a:endParaRPr lang="en-US" sz="1600" dirty="0"/>
          </a:p>
          <a:p>
            <a:pPr marL="342900" indent="-342900" algn="l">
              <a:lnSpc>
                <a:spcPts val="1700"/>
              </a:lnSpc>
              <a:buSzPct val="100000"/>
              <a:buChar char="•"/>
            </a:pPr>
            <a:r>
              <a:rPr lang="en-US" sz="1600" dirty="0">
                <a:solidFill>
                  <a:srgbClr val="000000"/>
                </a:solidFill>
                <a:ea typeface="Nunito Sans" pitchFamily="34" charset="-122"/>
                <a:cs typeface="Nunito Sans" pitchFamily="34" charset="-120"/>
              </a:rPr>
              <a:t>Have a smoother support experience</a:t>
            </a:r>
            <a:endParaRPr lang="en-US" sz="1600" dirty="0"/>
          </a:p>
          <a:p>
            <a:pPr marL="342900" indent="-342900" algn="l">
              <a:lnSpc>
                <a:spcPts val="1700"/>
              </a:lnSpc>
              <a:buSzPct val="100000"/>
              <a:buChar char="•"/>
            </a:pPr>
            <a:r>
              <a:rPr lang="en-US" sz="1600" dirty="0">
                <a:solidFill>
                  <a:srgbClr val="000000"/>
                </a:solidFill>
                <a:ea typeface="Nunito Sans" pitchFamily="34" charset="-122"/>
                <a:cs typeface="Nunito Sans" pitchFamily="34" charset="-120"/>
              </a:rPr>
              <a:t>Use voice for more complex questions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hape 11">
            <a:extLst>
              <a:ext uri="{FF2B5EF4-FFF2-40B4-BE49-F238E27FC236}">
                <a16:creationId xmlns:a16="http://schemas.microsoft.com/office/drawing/2014/main" id="{BD1DAEFB-BFF5-1F11-37E5-00F1327CE3AA}"/>
              </a:ext>
            </a:extLst>
          </p:cNvPr>
          <p:cNvSpPr/>
          <p:nvPr/>
        </p:nvSpPr>
        <p:spPr>
          <a:xfrm>
            <a:off x="7467598" y="3329484"/>
            <a:ext cx="4430485" cy="1301706"/>
          </a:xfrm>
          <a:prstGeom prst="roundRect">
            <a:avLst>
              <a:gd name="adj" fmla="val 12213"/>
            </a:avLst>
          </a:prstGeom>
          <a:solidFill>
            <a:srgbClr val="C6C4ED"/>
          </a:solidFill>
          <a:ln/>
        </p:spPr>
      </p:sp>
      <p:pic>
        <p:nvPicPr>
          <p:cNvPr id="3" name="Image 0" descr="preencoded.png"/>
          <p:cNvPicPr>
            <a:picLocks noChangeAspect="1"/>
          </p:cNvPicPr>
          <p:nvPr/>
        </p:nvPicPr>
        <p:blipFill>
          <a:blip r:embed="rId3"/>
          <a:stretch>
            <a:fillRect/>
          </a:stretch>
        </p:blipFill>
        <p:spPr>
          <a:xfrm>
            <a:off x="650606" y="1155799"/>
            <a:ext cx="661492" cy="793849"/>
          </a:xfrm>
          <a:prstGeom prst="rect">
            <a:avLst/>
          </a:prstGeom>
        </p:spPr>
      </p:pic>
      <p:sp>
        <p:nvSpPr>
          <p:cNvPr id="4" name="Text 1"/>
          <p:cNvSpPr/>
          <p:nvPr/>
        </p:nvSpPr>
        <p:spPr>
          <a:xfrm>
            <a:off x="1404668" y="1288057"/>
            <a:ext cx="1653878" cy="206673"/>
          </a:xfrm>
          <a:prstGeom prst="rect">
            <a:avLst/>
          </a:prstGeom>
          <a:noFill/>
          <a:ln/>
        </p:spPr>
        <p:txBody>
          <a:bodyPr wrap="none" lIns="0" tIns="0" rIns="0" bIns="0" rtlCol="0" anchor="t"/>
          <a:lstStyle/>
          <a:p>
            <a:pPr>
              <a:lnSpc>
                <a:spcPts val="1625"/>
              </a:lnSpc>
            </a:pPr>
            <a:r>
              <a:rPr lang="en-US" b="1" dirty="0">
                <a:solidFill>
                  <a:srgbClr val="000000"/>
                </a:solidFill>
                <a:ea typeface="Nunito Sans Bold" pitchFamily="34" charset="-122"/>
                <a:cs typeface="Nunito Sans Bold" pitchFamily="34" charset="-120"/>
              </a:rPr>
              <a:t>User's Browser</a:t>
            </a:r>
            <a:endParaRPr lang="en-US" dirty="0"/>
          </a:p>
        </p:txBody>
      </p:sp>
      <p:sp>
        <p:nvSpPr>
          <p:cNvPr id="5" name="Text 2"/>
          <p:cNvSpPr/>
          <p:nvPr/>
        </p:nvSpPr>
        <p:spPr>
          <a:xfrm>
            <a:off x="1404668" y="1615609"/>
            <a:ext cx="10114955" cy="179983"/>
          </a:xfrm>
          <a:prstGeom prst="rect">
            <a:avLst/>
          </a:prstGeom>
          <a:noFill/>
          <a:ln/>
        </p:spPr>
        <p:txBody>
          <a:bodyPr wrap="none" lIns="0" tIns="0" rIns="0" bIns="0" rtlCol="0" anchor="t"/>
          <a:lstStyle/>
          <a:p>
            <a:pPr>
              <a:lnSpc>
                <a:spcPts val="1417"/>
              </a:lnSpc>
            </a:pPr>
            <a:r>
              <a:rPr lang="en-US" dirty="0">
                <a:solidFill>
                  <a:srgbClr val="000000"/>
                </a:solidFill>
                <a:ea typeface="Nunito Sans" pitchFamily="34" charset="-122"/>
                <a:cs typeface="Nunito Sans" pitchFamily="34" charset="-120"/>
              </a:rPr>
              <a:t>LiveKit SDK captures audio</a:t>
            </a:r>
            <a:endParaRPr lang="en-US" dirty="0"/>
          </a:p>
        </p:txBody>
      </p:sp>
      <p:pic>
        <p:nvPicPr>
          <p:cNvPr id="6" name="Image 1" descr="preencoded.png"/>
          <p:cNvPicPr>
            <a:picLocks noChangeAspect="1"/>
          </p:cNvPicPr>
          <p:nvPr/>
        </p:nvPicPr>
        <p:blipFill>
          <a:blip r:embed="rId4"/>
          <a:stretch>
            <a:fillRect/>
          </a:stretch>
        </p:blipFill>
        <p:spPr>
          <a:xfrm>
            <a:off x="650606" y="1949648"/>
            <a:ext cx="661492" cy="793849"/>
          </a:xfrm>
          <a:prstGeom prst="rect">
            <a:avLst/>
          </a:prstGeom>
        </p:spPr>
      </p:pic>
      <p:sp>
        <p:nvSpPr>
          <p:cNvPr id="7" name="Text 3"/>
          <p:cNvSpPr/>
          <p:nvPr/>
        </p:nvSpPr>
        <p:spPr>
          <a:xfrm>
            <a:off x="1404668" y="2081906"/>
            <a:ext cx="1653878" cy="206673"/>
          </a:xfrm>
          <a:prstGeom prst="rect">
            <a:avLst/>
          </a:prstGeom>
          <a:noFill/>
          <a:ln/>
        </p:spPr>
        <p:txBody>
          <a:bodyPr wrap="none" lIns="0" tIns="0" rIns="0" bIns="0" rtlCol="0" anchor="t"/>
          <a:lstStyle/>
          <a:p>
            <a:pPr>
              <a:lnSpc>
                <a:spcPts val="1625"/>
              </a:lnSpc>
            </a:pPr>
            <a:r>
              <a:rPr lang="en-US" b="1" dirty="0">
                <a:solidFill>
                  <a:srgbClr val="000000"/>
                </a:solidFill>
                <a:ea typeface="Nunito Sans Bold" pitchFamily="34" charset="-122"/>
                <a:cs typeface="Nunito Sans Bold" pitchFamily="34" charset="-120"/>
              </a:rPr>
              <a:t>LiveKit Worker</a:t>
            </a:r>
            <a:endParaRPr lang="en-US" dirty="0"/>
          </a:p>
        </p:txBody>
      </p:sp>
      <p:sp>
        <p:nvSpPr>
          <p:cNvPr id="8" name="Text 4"/>
          <p:cNvSpPr/>
          <p:nvPr/>
        </p:nvSpPr>
        <p:spPr>
          <a:xfrm>
            <a:off x="1404668" y="2409458"/>
            <a:ext cx="10114955" cy="179983"/>
          </a:xfrm>
          <a:prstGeom prst="rect">
            <a:avLst/>
          </a:prstGeom>
          <a:noFill/>
          <a:ln/>
        </p:spPr>
        <p:txBody>
          <a:bodyPr wrap="none" lIns="0" tIns="0" rIns="0" bIns="0" rtlCol="0" anchor="t"/>
          <a:lstStyle/>
          <a:p>
            <a:pPr>
              <a:lnSpc>
                <a:spcPts val="1417"/>
              </a:lnSpc>
            </a:pPr>
            <a:r>
              <a:rPr lang="en-US" dirty="0">
                <a:solidFill>
                  <a:srgbClr val="000000"/>
                </a:solidFill>
                <a:ea typeface="Nunito Sans" pitchFamily="34" charset="-122"/>
                <a:cs typeface="Nunito Sans" pitchFamily="34" charset="-120"/>
              </a:rPr>
              <a:t>VAD + STT processing</a:t>
            </a:r>
            <a:endParaRPr lang="en-US" dirty="0"/>
          </a:p>
        </p:txBody>
      </p:sp>
      <p:pic>
        <p:nvPicPr>
          <p:cNvPr id="9" name="Image 2" descr="preencoded.png"/>
          <p:cNvPicPr>
            <a:picLocks noChangeAspect="1"/>
          </p:cNvPicPr>
          <p:nvPr/>
        </p:nvPicPr>
        <p:blipFill>
          <a:blip r:embed="rId5"/>
          <a:stretch>
            <a:fillRect/>
          </a:stretch>
        </p:blipFill>
        <p:spPr>
          <a:xfrm>
            <a:off x="650606" y="2743497"/>
            <a:ext cx="661492" cy="793849"/>
          </a:xfrm>
          <a:prstGeom prst="rect">
            <a:avLst/>
          </a:prstGeom>
        </p:spPr>
      </p:pic>
      <p:sp>
        <p:nvSpPr>
          <p:cNvPr id="10" name="Text 5"/>
          <p:cNvSpPr/>
          <p:nvPr/>
        </p:nvSpPr>
        <p:spPr>
          <a:xfrm>
            <a:off x="1404668" y="2875756"/>
            <a:ext cx="1653878" cy="206673"/>
          </a:xfrm>
          <a:prstGeom prst="rect">
            <a:avLst/>
          </a:prstGeom>
          <a:noFill/>
          <a:ln/>
        </p:spPr>
        <p:txBody>
          <a:bodyPr wrap="none" lIns="0" tIns="0" rIns="0" bIns="0" rtlCol="0" anchor="t"/>
          <a:lstStyle/>
          <a:p>
            <a:pPr>
              <a:lnSpc>
                <a:spcPts val="1625"/>
              </a:lnSpc>
            </a:pPr>
            <a:r>
              <a:rPr lang="en-US" b="1" dirty="0">
                <a:solidFill>
                  <a:srgbClr val="000000"/>
                </a:solidFill>
                <a:ea typeface="Nunito Sans Bold" pitchFamily="34" charset="-122"/>
                <a:cs typeface="Nunito Sans Bold" pitchFamily="34" charset="-120"/>
              </a:rPr>
              <a:t>LLM Processing</a:t>
            </a:r>
            <a:endParaRPr lang="en-US" dirty="0"/>
          </a:p>
        </p:txBody>
      </p:sp>
      <p:sp>
        <p:nvSpPr>
          <p:cNvPr id="11" name="Text 6"/>
          <p:cNvSpPr/>
          <p:nvPr/>
        </p:nvSpPr>
        <p:spPr>
          <a:xfrm>
            <a:off x="1404668" y="3203307"/>
            <a:ext cx="10114955" cy="179983"/>
          </a:xfrm>
          <a:prstGeom prst="rect">
            <a:avLst/>
          </a:prstGeom>
          <a:noFill/>
          <a:ln/>
        </p:spPr>
        <p:txBody>
          <a:bodyPr wrap="none" lIns="0" tIns="0" rIns="0" bIns="0" rtlCol="0" anchor="t"/>
          <a:lstStyle/>
          <a:p>
            <a:pPr>
              <a:lnSpc>
                <a:spcPts val="1417"/>
              </a:lnSpc>
            </a:pPr>
            <a:r>
              <a:rPr lang="en-US" dirty="0">
                <a:solidFill>
                  <a:srgbClr val="000000"/>
                </a:solidFill>
                <a:ea typeface="Nunito Sans" pitchFamily="34" charset="-122"/>
                <a:cs typeface="Nunito Sans" pitchFamily="34" charset="-120"/>
              </a:rPr>
              <a:t>OpenAI (cloud), Ollama (local) , rule-based last resort</a:t>
            </a:r>
            <a:endParaRPr lang="en-US" dirty="0"/>
          </a:p>
        </p:txBody>
      </p:sp>
      <p:pic>
        <p:nvPicPr>
          <p:cNvPr id="12" name="Image 3" descr="preencoded.png"/>
          <p:cNvPicPr>
            <a:picLocks noChangeAspect="1"/>
          </p:cNvPicPr>
          <p:nvPr/>
        </p:nvPicPr>
        <p:blipFill>
          <a:blip r:embed="rId6"/>
          <a:stretch>
            <a:fillRect/>
          </a:stretch>
        </p:blipFill>
        <p:spPr>
          <a:xfrm>
            <a:off x="650606" y="3537346"/>
            <a:ext cx="661492" cy="793849"/>
          </a:xfrm>
          <a:prstGeom prst="rect">
            <a:avLst/>
          </a:prstGeom>
        </p:spPr>
      </p:pic>
      <p:sp>
        <p:nvSpPr>
          <p:cNvPr id="13" name="Text 7"/>
          <p:cNvSpPr/>
          <p:nvPr/>
        </p:nvSpPr>
        <p:spPr>
          <a:xfrm>
            <a:off x="1404668" y="3669605"/>
            <a:ext cx="1653878" cy="206673"/>
          </a:xfrm>
          <a:prstGeom prst="rect">
            <a:avLst/>
          </a:prstGeom>
          <a:noFill/>
          <a:ln/>
        </p:spPr>
        <p:txBody>
          <a:bodyPr wrap="none" lIns="0" tIns="0" rIns="0" bIns="0" rtlCol="0" anchor="t"/>
          <a:lstStyle/>
          <a:p>
            <a:pPr>
              <a:lnSpc>
                <a:spcPts val="1625"/>
              </a:lnSpc>
            </a:pPr>
            <a:r>
              <a:rPr lang="en-US" b="1" dirty="0">
                <a:solidFill>
                  <a:srgbClr val="000000"/>
                </a:solidFill>
                <a:ea typeface="Nunito Sans Bold" pitchFamily="34" charset="-122"/>
                <a:cs typeface="Nunito Sans Bold" pitchFamily="34" charset="-120"/>
              </a:rPr>
              <a:t>TTS Generation</a:t>
            </a:r>
            <a:endParaRPr lang="en-US" dirty="0"/>
          </a:p>
        </p:txBody>
      </p:sp>
      <p:sp>
        <p:nvSpPr>
          <p:cNvPr id="14" name="Text 8"/>
          <p:cNvSpPr/>
          <p:nvPr/>
        </p:nvSpPr>
        <p:spPr>
          <a:xfrm>
            <a:off x="1404668" y="3997156"/>
            <a:ext cx="10114955" cy="179983"/>
          </a:xfrm>
          <a:prstGeom prst="rect">
            <a:avLst/>
          </a:prstGeom>
          <a:noFill/>
          <a:ln/>
        </p:spPr>
        <p:txBody>
          <a:bodyPr wrap="none" lIns="0" tIns="0" rIns="0" bIns="0" rtlCol="0" anchor="t"/>
          <a:lstStyle/>
          <a:p>
            <a:pPr>
              <a:lnSpc>
                <a:spcPts val="1417"/>
              </a:lnSpc>
            </a:pPr>
            <a:r>
              <a:rPr lang="en-US" dirty="0">
                <a:solidFill>
                  <a:srgbClr val="000000"/>
                </a:solidFill>
                <a:ea typeface="Nunito Sans" pitchFamily="34" charset="-122"/>
                <a:cs typeface="Nunito Sans" pitchFamily="34" charset="-120"/>
              </a:rPr>
              <a:t>edge-tts synthesis</a:t>
            </a:r>
            <a:endParaRPr lang="en-US" dirty="0"/>
          </a:p>
        </p:txBody>
      </p:sp>
      <p:pic>
        <p:nvPicPr>
          <p:cNvPr id="15" name="Image 4" descr="preencoded.png"/>
          <p:cNvPicPr>
            <a:picLocks noChangeAspect="1"/>
          </p:cNvPicPr>
          <p:nvPr/>
        </p:nvPicPr>
        <p:blipFill>
          <a:blip r:embed="rId7"/>
          <a:stretch>
            <a:fillRect/>
          </a:stretch>
        </p:blipFill>
        <p:spPr>
          <a:xfrm>
            <a:off x="650606" y="4331195"/>
            <a:ext cx="661492" cy="793849"/>
          </a:xfrm>
          <a:prstGeom prst="rect">
            <a:avLst/>
          </a:prstGeom>
        </p:spPr>
      </p:pic>
      <p:sp>
        <p:nvSpPr>
          <p:cNvPr id="16" name="Text 9"/>
          <p:cNvSpPr/>
          <p:nvPr/>
        </p:nvSpPr>
        <p:spPr>
          <a:xfrm>
            <a:off x="1404668" y="4463454"/>
            <a:ext cx="1653878" cy="206673"/>
          </a:xfrm>
          <a:prstGeom prst="rect">
            <a:avLst/>
          </a:prstGeom>
          <a:noFill/>
          <a:ln/>
        </p:spPr>
        <p:txBody>
          <a:bodyPr wrap="none" lIns="0" tIns="0" rIns="0" bIns="0" rtlCol="0" anchor="t"/>
          <a:lstStyle/>
          <a:p>
            <a:pPr>
              <a:lnSpc>
                <a:spcPts val="1625"/>
              </a:lnSpc>
            </a:pPr>
            <a:r>
              <a:rPr lang="en-US" b="1" dirty="0">
                <a:solidFill>
                  <a:srgbClr val="000000"/>
                </a:solidFill>
                <a:ea typeface="Nunito Sans Bold" pitchFamily="34" charset="-122"/>
                <a:cs typeface="Nunito Sans Bold" pitchFamily="34" charset="-120"/>
              </a:rPr>
              <a:t>Audio Playback</a:t>
            </a:r>
            <a:endParaRPr lang="en-US" dirty="0"/>
          </a:p>
        </p:txBody>
      </p:sp>
      <p:sp>
        <p:nvSpPr>
          <p:cNvPr id="17" name="Text 10"/>
          <p:cNvSpPr/>
          <p:nvPr/>
        </p:nvSpPr>
        <p:spPr>
          <a:xfrm>
            <a:off x="1426439" y="4804900"/>
            <a:ext cx="10114955" cy="179983"/>
          </a:xfrm>
          <a:prstGeom prst="rect">
            <a:avLst/>
          </a:prstGeom>
          <a:noFill/>
          <a:ln/>
        </p:spPr>
        <p:txBody>
          <a:bodyPr wrap="none" lIns="0" tIns="0" rIns="0" bIns="0" rtlCol="0" anchor="t"/>
          <a:lstStyle/>
          <a:p>
            <a:pPr>
              <a:lnSpc>
                <a:spcPts val="1417"/>
              </a:lnSpc>
            </a:pPr>
            <a:r>
              <a:rPr lang="en-US" dirty="0">
                <a:solidFill>
                  <a:srgbClr val="000000"/>
                </a:solidFill>
                <a:ea typeface="Nunito Sans" pitchFamily="34" charset="-122"/>
                <a:cs typeface="Nunito Sans" pitchFamily="34" charset="-120"/>
              </a:rPr>
              <a:t>Browser speaker output</a:t>
            </a:r>
            <a:endParaRPr lang="en-US" dirty="0"/>
          </a:p>
        </p:txBody>
      </p:sp>
      <p:sp>
        <p:nvSpPr>
          <p:cNvPr id="18" name="Shape 11"/>
          <p:cNvSpPr/>
          <p:nvPr/>
        </p:nvSpPr>
        <p:spPr>
          <a:xfrm>
            <a:off x="7467599" y="1471340"/>
            <a:ext cx="4430485" cy="1301706"/>
          </a:xfrm>
          <a:prstGeom prst="roundRect">
            <a:avLst>
              <a:gd name="adj" fmla="val 12213"/>
            </a:avLst>
          </a:prstGeom>
          <a:solidFill>
            <a:srgbClr val="C6C4ED"/>
          </a:solidFill>
          <a:ln/>
        </p:spPr>
      </p:sp>
      <p:pic>
        <p:nvPicPr>
          <p:cNvPr id="19" name="Image 5" descr="preencoded.png"/>
          <p:cNvPicPr>
            <a:picLocks noChangeAspect="1"/>
          </p:cNvPicPr>
          <p:nvPr/>
        </p:nvPicPr>
        <p:blipFill>
          <a:blip r:embed="rId8"/>
          <a:stretch>
            <a:fillRect/>
          </a:stretch>
        </p:blipFill>
        <p:spPr>
          <a:xfrm>
            <a:off x="11372212" y="1663503"/>
            <a:ext cx="294822" cy="235893"/>
          </a:xfrm>
          <a:prstGeom prst="rect">
            <a:avLst/>
          </a:prstGeom>
        </p:spPr>
      </p:pic>
      <p:sp>
        <p:nvSpPr>
          <p:cNvPr id="20" name="Text 12"/>
          <p:cNvSpPr/>
          <p:nvPr/>
        </p:nvSpPr>
        <p:spPr>
          <a:xfrm>
            <a:off x="7607846" y="1651870"/>
            <a:ext cx="3933548" cy="705774"/>
          </a:xfrm>
          <a:prstGeom prst="rect">
            <a:avLst/>
          </a:prstGeom>
          <a:noFill/>
          <a:ln/>
        </p:spPr>
        <p:txBody>
          <a:bodyPr wrap="none" lIns="0" tIns="0" rIns="0" bIns="0" rtlCol="0" anchor="t"/>
          <a:lstStyle/>
          <a:p>
            <a:pPr>
              <a:lnSpc>
                <a:spcPts val="1417"/>
              </a:lnSpc>
            </a:pPr>
            <a:r>
              <a:rPr lang="en-US" sz="1600" b="1" dirty="0">
                <a:solidFill>
                  <a:srgbClr val="000000"/>
                </a:solidFill>
                <a:ea typeface="Nunito Sans" pitchFamily="34" charset="-122"/>
                <a:cs typeface="Nunito Sans" pitchFamily="34" charset="-120"/>
              </a:rPr>
              <a:t>Dual LLM Logic:</a:t>
            </a:r>
            <a:r>
              <a:rPr lang="en-US" sz="1600" dirty="0">
                <a:solidFill>
                  <a:srgbClr val="000000"/>
                </a:solidFill>
                <a:ea typeface="Nunito Sans" pitchFamily="34" charset="-122"/>
                <a:cs typeface="Nunito Sans" pitchFamily="34" charset="-120"/>
              </a:rPr>
              <a:t> </a:t>
            </a:r>
          </a:p>
          <a:p>
            <a:pPr>
              <a:lnSpc>
                <a:spcPts val="1417"/>
              </a:lnSpc>
            </a:pPr>
            <a:endParaRPr lang="en-US" dirty="0">
              <a:solidFill>
                <a:srgbClr val="000000"/>
              </a:solidFill>
              <a:ea typeface="Nunito Sans" pitchFamily="34" charset="-122"/>
              <a:cs typeface="Nunito Sans" pitchFamily="34" charset="-120"/>
            </a:endParaRPr>
          </a:p>
          <a:p>
            <a:pPr>
              <a:lnSpc>
                <a:spcPts val="1417"/>
              </a:lnSpc>
            </a:pPr>
            <a:r>
              <a:rPr lang="en-US" sz="1600" dirty="0">
                <a:solidFill>
                  <a:srgbClr val="000000"/>
                </a:solidFill>
                <a:ea typeface="Nunito Sans" pitchFamily="34" charset="-122"/>
                <a:cs typeface="Nunito Sans" pitchFamily="34" charset="-120"/>
              </a:rPr>
              <a:t>The system uses OpenAI and Ollama both based </a:t>
            </a:r>
          </a:p>
          <a:p>
            <a:pPr>
              <a:lnSpc>
                <a:spcPts val="1417"/>
              </a:lnSpc>
            </a:pPr>
            <a:r>
              <a:rPr lang="en-US" sz="1600" dirty="0">
                <a:solidFill>
                  <a:srgbClr val="000000"/>
                </a:solidFill>
                <a:ea typeface="Nunito Sans" pitchFamily="34" charset="-122"/>
                <a:cs typeface="Nunito Sans" pitchFamily="34" charset="-120"/>
              </a:rPr>
              <a:t>on availability (retries) when an API key is set.</a:t>
            </a:r>
          </a:p>
          <a:p>
            <a:pPr>
              <a:lnSpc>
                <a:spcPts val="1417"/>
              </a:lnSpc>
            </a:pPr>
            <a:r>
              <a:rPr lang="en-US" sz="1600" dirty="0">
                <a:solidFill>
                  <a:srgbClr val="000000"/>
                </a:solidFill>
                <a:ea typeface="Nunito Sans" pitchFamily="34" charset="-122"/>
                <a:cs typeface="Nunito Sans" pitchFamily="34" charset="-120"/>
              </a:rPr>
              <a:t> Rule-based responses are used only as a last resort.</a:t>
            </a:r>
            <a:endParaRPr lang="en-US" sz="1600" dirty="0"/>
          </a:p>
        </p:txBody>
      </p:sp>
      <p:sp>
        <p:nvSpPr>
          <p:cNvPr id="21" name="Text 13"/>
          <p:cNvSpPr/>
          <p:nvPr/>
        </p:nvSpPr>
        <p:spPr>
          <a:xfrm>
            <a:off x="7553415" y="3494979"/>
            <a:ext cx="4258850" cy="633648"/>
          </a:xfrm>
          <a:prstGeom prst="rect">
            <a:avLst/>
          </a:prstGeom>
          <a:noFill/>
          <a:ln/>
        </p:spPr>
        <p:txBody>
          <a:bodyPr wrap="square" lIns="0" tIns="0" rIns="0" bIns="0" rtlCol="0" anchor="t"/>
          <a:lstStyle/>
          <a:p>
            <a:pPr>
              <a:lnSpc>
                <a:spcPts val="1417"/>
              </a:lnSpc>
            </a:pPr>
            <a:r>
              <a:rPr lang="en-US" sz="1600" b="1" dirty="0">
                <a:solidFill>
                  <a:srgbClr val="000000"/>
                </a:solidFill>
                <a:ea typeface="Nunito Sans" pitchFamily="34" charset="-122"/>
                <a:cs typeface="Nunito Sans" pitchFamily="34" charset="-120"/>
              </a:rPr>
              <a:t>Why both?</a:t>
            </a:r>
            <a:r>
              <a:rPr lang="en-US" sz="1600" dirty="0">
                <a:solidFill>
                  <a:srgbClr val="000000"/>
                </a:solidFill>
                <a:ea typeface="Nunito Sans" pitchFamily="34" charset="-122"/>
                <a:cs typeface="Nunito Sans" pitchFamily="34" charset="-120"/>
              </a:rPr>
              <a:t> </a:t>
            </a:r>
          </a:p>
          <a:p>
            <a:pPr>
              <a:lnSpc>
                <a:spcPts val="1417"/>
              </a:lnSpc>
            </a:pPr>
            <a:endParaRPr lang="en-US" sz="1600" dirty="0">
              <a:solidFill>
                <a:srgbClr val="000000"/>
              </a:solidFill>
              <a:ea typeface="Nunito Sans" pitchFamily="34" charset="-122"/>
              <a:cs typeface="Nunito Sans" pitchFamily="34" charset="-120"/>
            </a:endParaRPr>
          </a:p>
          <a:p>
            <a:pPr>
              <a:lnSpc>
                <a:spcPts val="1417"/>
              </a:lnSpc>
            </a:pPr>
            <a:r>
              <a:rPr lang="en-US" sz="1600" dirty="0">
                <a:solidFill>
                  <a:srgbClr val="000000"/>
                </a:solidFill>
                <a:ea typeface="Nunito Sans" pitchFamily="34" charset="-122"/>
                <a:cs typeface="Nunito Sans" pitchFamily="34" charset="-120"/>
              </a:rPr>
              <a:t>OpenAI provides high accuracy and broad language support, while Ollama enables local execution, privacy, and lower cost. This setup keeps the assistant reliable with a clear fallback path.</a:t>
            </a:r>
            <a:endParaRPr lang="en-US" sz="1600" dirty="0"/>
          </a:p>
        </p:txBody>
      </p:sp>
      <p:sp>
        <p:nvSpPr>
          <p:cNvPr id="22" name="Title 21">
            <a:extLst>
              <a:ext uri="{FF2B5EF4-FFF2-40B4-BE49-F238E27FC236}">
                <a16:creationId xmlns:a16="http://schemas.microsoft.com/office/drawing/2014/main" id="{D353DD8D-AFDD-A44F-D20A-ED7309C3C728}"/>
              </a:ext>
            </a:extLst>
          </p:cNvPr>
          <p:cNvSpPr>
            <a:spLocks noGrp="1"/>
          </p:cNvSpPr>
          <p:nvPr>
            <p:ph type="title"/>
          </p:nvPr>
        </p:nvSpPr>
        <p:spPr>
          <a:xfrm>
            <a:off x="696274" y="117560"/>
            <a:ext cx="10834234" cy="612775"/>
          </a:xfrm>
        </p:spPr>
        <p:txBody>
          <a:bodyPr>
            <a:normAutofit/>
          </a:bodyPr>
          <a:lstStyle/>
          <a:p>
            <a:r>
              <a:rPr lang="en-US" sz="3200" dirty="0">
                <a:solidFill>
                  <a:srgbClr val="161A3E"/>
                </a:solidFill>
                <a:latin typeface="+mn-lt"/>
                <a:ea typeface="Nunito Sans Bold" pitchFamily="34" charset="-122"/>
                <a:cs typeface="Nunito Sans Bold" pitchFamily="34" charset="-120"/>
              </a:rPr>
              <a:t>Architecture Overview</a:t>
            </a:r>
            <a:endParaRPr lang="en-IN" sz="3200" dirty="0">
              <a:latin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61492" y="918016"/>
            <a:ext cx="10869018" cy="217686"/>
          </a:xfrm>
          <a:prstGeom prst="rect">
            <a:avLst/>
          </a:prstGeom>
          <a:noFill/>
          <a:ln/>
        </p:spPr>
        <p:txBody>
          <a:bodyPr wrap="none" lIns="0" tIns="0" rIns="0" bIns="0" rtlCol="0" anchor="t"/>
          <a:lstStyle/>
          <a:p>
            <a:pPr>
              <a:lnSpc>
                <a:spcPts val="1708"/>
              </a:lnSpc>
            </a:pPr>
            <a:endParaRPr lang="en-US" dirty="0"/>
          </a:p>
        </p:txBody>
      </p:sp>
      <p:sp>
        <p:nvSpPr>
          <p:cNvPr id="4" name="Text 2"/>
          <p:cNvSpPr/>
          <p:nvPr/>
        </p:nvSpPr>
        <p:spPr>
          <a:xfrm>
            <a:off x="666637" y="1182230"/>
            <a:ext cx="10869018" cy="435372"/>
          </a:xfrm>
          <a:prstGeom prst="rect">
            <a:avLst/>
          </a:prstGeom>
          <a:noFill/>
          <a:ln/>
        </p:spPr>
        <p:txBody>
          <a:bodyPr wrap="square" lIns="0" tIns="0" rIns="0" bIns="0" rtlCol="0" anchor="t"/>
          <a:lstStyle/>
          <a:p>
            <a:pPr>
              <a:lnSpc>
                <a:spcPts val="1708"/>
              </a:lnSpc>
            </a:pPr>
            <a:r>
              <a:rPr lang="en-US" dirty="0">
                <a:solidFill>
                  <a:srgbClr val="000000"/>
                </a:solidFill>
                <a:ea typeface="Nunito Sans" pitchFamily="34" charset="-122"/>
                <a:cs typeface="Nunito Sans" pitchFamily="34" charset="-120"/>
              </a:rPr>
              <a:t>The diagram below illustrates how audio flows through each processing stage, from capture to response. Each component is optimized for speed, with the entire pipeline completing in 2-4 seconds on standard CPU hardware.</a:t>
            </a:r>
            <a:endParaRPr lang="en-US" dirty="0"/>
          </a:p>
        </p:txBody>
      </p:sp>
      <p:sp>
        <p:nvSpPr>
          <p:cNvPr id="7" name="Text 3"/>
          <p:cNvSpPr/>
          <p:nvPr/>
        </p:nvSpPr>
        <p:spPr>
          <a:xfrm>
            <a:off x="7972426" y="1951974"/>
            <a:ext cx="3564334" cy="217686"/>
          </a:xfrm>
          <a:prstGeom prst="rect">
            <a:avLst/>
          </a:prstGeom>
          <a:noFill/>
          <a:ln/>
        </p:spPr>
        <p:txBody>
          <a:bodyPr wrap="none" lIns="0" tIns="0" rIns="0" bIns="0" rtlCol="0" anchor="t"/>
          <a:lstStyle/>
          <a:p>
            <a:pPr>
              <a:lnSpc>
                <a:spcPts val="1708"/>
              </a:lnSpc>
            </a:pPr>
            <a:endParaRPr lang="en-US" dirty="0"/>
          </a:p>
        </p:txBody>
      </p:sp>
      <p:sp>
        <p:nvSpPr>
          <p:cNvPr id="8" name="Text 4"/>
          <p:cNvSpPr/>
          <p:nvPr/>
        </p:nvSpPr>
        <p:spPr>
          <a:xfrm>
            <a:off x="938779" y="5504612"/>
            <a:ext cx="10869018" cy="435372"/>
          </a:xfrm>
          <a:prstGeom prst="rect">
            <a:avLst/>
          </a:prstGeom>
          <a:noFill/>
          <a:ln/>
        </p:spPr>
        <p:txBody>
          <a:bodyPr wrap="square" lIns="0" tIns="0" rIns="0" bIns="0" rtlCol="0" anchor="t"/>
          <a:lstStyle/>
          <a:p>
            <a:pPr>
              <a:lnSpc>
                <a:spcPts val="1708"/>
              </a:lnSpc>
            </a:pPr>
            <a:r>
              <a:rPr lang="en-US" sz="1600" dirty="0">
                <a:solidFill>
                  <a:srgbClr val="000000"/>
                </a:solidFill>
                <a:ea typeface="Nunito Sans" pitchFamily="34" charset="-122"/>
                <a:cs typeface="Nunito Sans" pitchFamily="34" charset="-120"/>
              </a:rPr>
              <a:t>This architecture ensures a seamless, real-time conversational experience by leveraging advanced speech processing, intelligent language models, and efficient audio streaming, all while maintaining low latency.</a:t>
            </a:r>
            <a:endParaRPr lang="en-US" sz="1600" dirty="0"/>
          </a:p>
        </p:txBody>
      </p:sp>
      <p:sp>
        <p:nvSpPr>
          <p:cNvPr id="9" name="Title 8">
            <a:extLst>
              <a:ext uri="{FF2B5EF4-FFF2-40B4-BE49-F238E27FC236}">
                <a16:creationId xmlns:a16="http://schemas.microsoft.com/office/drawing/2014/main" id="{8A24F55B-7690-F69B-CEC1-5E88EA782489}"/>
              </a:ext>
            </a:extLst>
          </p:cNvPr>
          <p:cNvSpPr>
            <a:spLocks noGrp="1"/>
          </p:cNvSpPr>
          <p:nvPr>
            <p:ph type="title"/>
          </p:nvPr>
        </p:nvSpPr>
        <p:spPr>
          <a:xfrm>
            <a:off x="696276" y="202711"/>
            <a:ext cx="10834234" cy="612775"/>
          </a:xfrm>
        </p:spPr>
        <p:txBody>
          <a:bodyPr>
            <a:normAutofit/>
          </a:bodyPr>
          <a:lstStyle/>
          <a:p>
            <a:r>
              <a:rPr lang="en-US" sz="3200" dirty="0">
                <a:solidFill>
                  <a:srgbClr val="161A3E"/>
                </a:solidFill>
                <a:latin typeface="+mn-lt"/>
                <a:ea typeface="Nunito Sans Bold" pitchFamily="34" charset="-122"/>
                <a:cs typeface="Nunito Sans Bold" pitchFamily="34" charset="-120"/>
              </a:rPr>
              <a:t>System Architecture &amp; Data Flow</a:t>
            </a:r>
            <a:endParaRPr lang="en-IN" sz="3200" dirty="0">
              <a:latin typeface="+mn-lt"/>
            </a:endParaRPr>
          </a:p>
        </p:txBody>
      </p:sp>
      <p:pic>
        <p:nvPicPr>
          <p:cNvPr id="11" name="Image 0" descr="preencoded.png"/>
          <p:cNvPicPr>
            <a:picLocks noChangeAspect="1"/>
          </p:cNvPicPr>
          <p:nvPr/>
        </p:nvPicPr>
        <p:blipFill>
          <a:blip r:embed="rId3"/>
          <a:stretch>
            <a:fillRect/>
          </a:stretch>
        </p:blipFill>
        <p:spPr>
          <a:xfrm>
            <a:off x="2416627" y="1662642"/>
            <a:ext cx="6722195" cy="375188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607062" y="1239697"/>
            <a:ext cx="10869018" cy="4106069"/>
          </a:xfrm>
          <a:prstGeom prst="roundRect">
            <a:avLst>
              <a:gd name="adj" fmla="val 1740"/>
            </a:avLst>
          </a:prstGeom>
          <a:noFill/>
          <a:ln w="7620">
            <a:solidFill>
              <a:srgbClr val="000000">
                <a:alpha val="8000"/>
              </a:srgbClr>
            </a:solidFill>
            <a:prstDash val="solid"/>
          </a:ln>
        </p:spPr>
      </p:sp>
      <p:sp>
        <p:nvSpPr>
          <p:cNvPr id="4" name="Shape 2"/>
          <p:cNvSpPr/>
          <p:nvPr/>
        </p:nvSpPr>
        <p:spPr>
          <a:xfrm>
            <a:off x="613412" y="1246047"/>
            <a:ext cx="10855226" cy="454819"/>
          </a:xfrm>
          <a:prstGeom prst="rect">
            <a:avLst/>
          </a:prstGeom>
          <a:solidFill>
            <a:srgbClr val="FFFFFF">
              <a:alpha val="4000"/>
            </a:srgbClr>
          </a:solidFill>
          <a:ln/>
        </p:spPr>
      </p:sp>
      <p:sp>
        <p:nvSpPr>
          <p:cNvPr id="5" name="Text 3"/>
          <p:cNvSpPr/>
          <p:nvPr/>
        </p:nvSpPr>
        <p:spPr>
          <a:xfrm>
            <a:off x="784663" y="1344174"/>
            <a:ext cx="3274715" cy="258564"/>
          </a:xfrm>
          <a:prstGeom prst="rect">
            <a:avLst/>
          </a:prstGeom>
          <a:noFill/>
          <a:ln/>
        </p:spPr>
        <p:txBody>
          <a:bodyPr wrap="none" lIns="0" tIns="0" rIns="0" bIns="0" rtlCol="0" anchor="t"/>
          <a:lstStyle/>
          <a:p>
            <a:pPr>
              <a:lnSpc>
                <a:spcPts val="2000"/>
              </a:lnSpc>
            </a:pPr>
            <a:r>
              <a:rPr lang="en-US" sz="1600" b="1" dirty="0">
                <a:solidFill>
                  <a:srgbClr val="000000"/>
                </a:solidFill>
                <a:ea typeface="Nunito Sans" pitchFamily="34" charset="-122"/>
                <a:cs typeface="Nunito Sans" pitchFamily="34" charset="-120"/>
              </a:rPr>
              <a:t>Layer</a:t>
            </a:r>
            <a:endParaRPr lang="en-US" sz="1600" dirty="0"/>
          </a:p>
        </p:txBody>
      </p:sp>
      <p:sp>
        <p:nvSpPr>
          <p:cNvPr id="6" name="Text 4"/>
          <p:cNvSpPr/>
          <p:nvPr/>
        </p:nvSpPr>
        <p:spPr>
          <a:xfrm>
            <a:off x="4405850" y="1344174"/>
            <a:ext cx="3271540" cy="258564"/>
          </a:xfrm>
          <a:prstGeom prst="rect">
            <a:avLst/>
          </a:prstGeom>
          <a:noFill/>
          <a:ln/>
        </p:spPr>
        <p:txBody>
          <a:bodyPr wrap="none" lIns="0" tIns="0" rIns="0" bIns="0" rtlCol="0" anchor="t"/>
          <a:lstStyle/>
          <a:p>
            <a:pPr>
              <a:lnSpc>
                <a:spcPts val="2000"/>
              </a:lnSpc>
            </a:pPr>
            <a:r>
              <a:rPr lang="en-US" sz="1600" b="1" dirty="0">
                <a:solidFill>
                  <a:srgbClr val="000000"/>
                </a:solidFill>
                <a:ea typeface="Nunito Sans" pitchFamily="34" charset="-122"/>
                <a:cs typeface="Nunito Sans" pitchFamily="34" charset="-120"/>
              </a:rPr>
              <a:t>Technology</a:t>
            </a:r>
            <a:endParaRPr lang="en-US" sz="1600" dirty="0"/>
          </a:p>
        </p:txBody>
      </p:sp>
      <p:sp>
        <p:nvSpPr>
          <p:cNvPr id="7" name="Text 5"/>
          <p:cNvSpPr/>
          <p:nvPr/>
        </p:nvSpPr>
        <p:spPr>
          <a:xfrm>
            <a:off x="8023862" y="1344174"/>
            <a:ext cx="3274715" cy="258564"/>
          </a:xfrm>
          <a:prstGeom prst="rect">
            <a:avLst/>
          </a:prstGeom>
          <a:noFill/>
          <a:ln/>
        </p:spPr>
        <p:txBody>
          <a:bodyPr wrap="none" lIns="0" tIns="0" rIns="0" bIns="0" rtlCol="0" anchor="t"/>
          <a:lstStyle/>
          <a:p>
            <a:pPr>
              <a:lnSpc>
                <a:spcPts val="2000"/>
              </a:lnSpc>
            </a:pPr>
            <a:r>
              <a:rPr lang="en-US" sz="1600" b="1" dirty="0">
                <a:solidFill>
                  <a:srgbClr val="000000"/>
                </a:solidFill>
                <a:ea typeface="Nunito Sans" pitchFamily="34" charset="-122"/>
                <a:cs typeface="Nunito Sans" pitchFamily="34" charset="-120"/>
              </a:rPr>
              <a:t>Key Benefit</a:t>
            </a:r>
            <a:endParaRPr lang="en-US" sz="1600" dirty="0"/>
          </a:p>
        </p:txBody>
      </p:sp>
      <p:sp>
        <p:nvSpPr>
          <p:cNvPr id="8" name="Shape 6"/>
          <p:cNvSpPr/>
          <p:nvPr/>
        </p:nvSpPr>
        <p:spPr>
          <a:xfrm>
            <a:off x="613412" y="1700865"/>
            <a:ext cx="10855226" cy="454819"/>
          </a:xfrm>
          <a:prstGeom prst="rect">
            <a:avLst/>
          </a:prstGeom>
          <a:solidFill>
            <a:srgbClr val="000000">
              <a:alpha val="4000"/>
            </a:srgbClr>
          </a:solidFill>
          <a:ln/>
        </p:spPr>
      </p:sp>
      <p:sp>
        <p:nvSpPr>
          <p:cNvPr id="9" name="Text 7"/>
          <p:cNvSpPr/>
          <p:nvPr/>
        </p:nvSpPr>
        <p:spPr>
          <a:xfrm>
            <a:off x="784663" y="1798993"/>
            <a:ext cx="3274715"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Audio Transport</a:t>
            </a:r>
            <a:endParaRPr lang="en-US" sz="1600" dirty="0"/>
          </a:p>
        </p:txBody>
      </p:sp>
      <p:sp>
        <p:nvSpPr>
          <p:cNvPr id="10" name="Text 8"/>
          <p:cNvSpPr/>
          <p:nvPr/>
        </p:nvSpPr>
        <p:spPr>
          <a:xfrm>
            <a:off x="4405850" y="1798993"/>
            <a:ext cx="3271540"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LiveKit (WebRTC)</a:t>
            </a:r>
            <a:endParaRPr lang="en-US" sz="1600" dirty="0"/>
          </a:p>
        </p:txBody>
      </p:sp>
      <p:sp>
        <p:nvSpPr>
          <p:cNvPr id="11" name="Text 9"/>
          <p:cNvSpPr/>
          <p:nvPr/>
        </p:nvSpPr>
        <p:spPr>
          <a:xfrm>
            <a:off x="8023862" y="1798993"/>
            <a:ext cx="3274715"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Real-time bidirectional streaming</a:t>
            </a:r>
            <a:endParaRPr lang="en-US" sz="1600" dirty="0"/>
          </a:p>
        </p:txBody>
      </p:sp>
      <p:sp>
        <p:nvSpPr>
          <p:cNvPr id="12" name="Shape 10"/>
          <p:cNvSpPr/>
          <p:nvPr/>
        </p:nvSpPr>
        <p:spPr>
          <a:xfrm>
            <a:off x="613412" y="2155685"/>
            <a:ext cx="10855226" cy="454819"/>
          </a:xfrm>
          <a:prstGeom prst="rect">
            <a:avLst/>
          </a:prstGeom>
          <a:solidFill>
            <a:srgbClr val="FFFFFF">
              <a:alpha val="4000"/>
            </a:srgbClr>
          </a:solidFill>
          <a:ln/>
        </p:spPr>
      </p:sp>
      <p:sp>
        <p:nvSpPr>
          <p:cNvPr id="13" name="Text 11"/>
          <p:cNvSpPr/>
          <p:nvPr/>
        </p:nvSpPr>
        <p:spPr>
          <a:xfrm>
            <a:off x="784663" y="2253811"/>
            <a:ext cx="3274715"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Speech-to-Text</a:t>
            </a:r>
            <a:endParaRPr lang="en-US" sz="1600" dirty="0"/>
          </a:p>
        </p:txBody>
      </p:sp>
      <p:sp>
        <p:nvSpPr>
          <p:cNvPr id="14" name="Text 12"/>
          <p:cNvSpPr/>
          <p:nvPr/>
        </p:nvSpPr>
        <p:spPr>
          <a:xfrm>
            <a:off x="4405850" y="2253811"/>
            <a:ext cx="3271540"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faster-whisper 1.2.1</a:t>
            </a:r>
            <a:endParaRPr lang="en-US" sz="1600" dirty="0"/>
          </a:p>
        </p:txBody>
      </p:sp>
      <p:sp>
        <p:nvSpPr>
          <p:cNvPr id="15" name="Text 13"/>
          <p:cNvSpPr/>
          <p:nvPr/>
        </p:nvSpPr>
        <p:spPr>
          <a:xfrm>
            <a:off x="8023862" y="2253811"/>
            <a:ext cx="3274715"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4× faster than original Whisper, CPU-only</a:t>
            </a:r>
            <a:endParaRPr lang="en-US" sz="1600" dirty="0"/>
          </a:p>
        </p:txBody>
      </p:sp>
      <p:sp>
        <p:nvSpPr>
          <p:cNvPr id="16" name="Shape 14"/>
          <p:cNvSpPr/>
          <p:nvPr/>
        </p:nvSpPr>
        <p:spPr>
          <a:xfrm>
            <a:off x="613412" y="2610503"/>
            <a:ext cx="10855226" cy="454819"/>
          </a:xfrm>
          <a:prstGeom prst="rect">
            <a:avLst/>
          </a:prstGeom>
          <a:solidFill>
            <a:srgbClr val="000000">
              <a:alpha val="4000"/>
            </a:srgbClr>
          </a:solidFill>
          <a:ln/>
        </p:spPr>
      </p:sp>
      <p:sp>
        <p:nvSpPr>
          <p:cNvPr id="17" name="Text 15"/>
          <p:cNvSpPr/>
          <p:nvPr/>
        </p:nvSpPr>
        <p:spPr>
          <a:xfrm>
            <a:off x="784663" y="2708630"/>
            <a:ext cx="3274715"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Language Model</a:t>
            </a:r>
            <a:endParaRPr lang="en-US" sz="1600" dirty="0"/>
          </a:p>
        </p:txBody>
      </p:sp>
      <p:sp>
        <p:nvSpPr>
          <p:cNvPr id="18" name="Text 16"/>
          <p:cNvSpPr/>
          <p:nvPr/>
        </p:nvSpPr>
        <p:spPr>
          <a:xfrm>
            <a:off x="4405850" y="2708630"/>
            <a:ext cx="3271540"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Ollama + llama3.2:1b</a:t>
            </a:r>
            <a:endParaRPr lang="en-US" sz="1600" dirty="0"/>
          </a:p>
        </p:txBody>
      </p:sp>
      <p:sp>
        <p:nvSpPr>
          <p:cNvPr id="19" name="Text 17"/>
          <p:cNvSpPr/>
          <p:nvPr/>
        </p:nvSpPr>
        <p:spPr>
          <a:xfrm>
            <a:off x="8023862" y="2708630"/>
            <a:ext cx="3274715"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Local, private, ~1 s inference</a:t>
            </a:r>
            <a:endParaRPr lang="en-US" sz="1600" dirty="0"/>
          </a:p>
        </p:txBody>
      </p:sp>
      <p:sp>
        <p:nvSpPr>
          <p:cNvPr id="20" name="Shape 18"/>
          <p:cNvSpPr/>
          <p:nvPr/>
        </p:nvSpPr>
        <p:spPr>
          <a:xfrm>
            <a:off x="613412" y="3065322"/>
            <a:ext cx="10855226" cy="454819"/>
          </a:xfrm>
          <a:prstGeom prst="rect">
            <a:avLst/>
          </a:prstGeom>
          <a:solidFill>
            <a:srgbClr val="FFFFFF">
              <a:alpha val="4000"/>
            </a:srgbClr>
          </a:solidFill>
          <a:ln/>
        </p:spPr>
      </p:sp>
      <p:sp>
        <p:nvSpPr>
          <p:cNvPr id="21" name="Text 19"/>
          <p:cNvSpPr/>
          <p:nvPr/>
        </p:nvSpPr>
        <p:spPr>
          <a:xfrm>
            <a:off x="784663" y="3163449"/>
            <a:ext cx="3274715"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LLM Fallback</a:t>
            </a:r>
            <a:endParaRPr lang="en-US" sz="1600" dirty="0"/>
          </a:p>
        </p:txBody>
      </p:sp>
      <p:sp>
        <p:nvSpPr>
          <p:cNvPr id="22" name="Text 20"/>
          <p:cNvSpPr/>
          <p:nvPr/>
        </p:nvSpPr>
        <p:spPr>
          <a:xfrm>
            <a:off x="4405850" y="3163449"/>
            <a:ext cx="3271540"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OpenAI → Ollama → Rule-based</a:t>
            </a:r>
            <a:endParaRPr lang="en-US" sz="1600" dirty="0"/>
          </a:p>
        </p:txBody>
      </p:sp>
      <p:sp>
        <p:nvSpPr>
          <p:cNvPr id="23" name="Text 21"/>
          <p:cNvSpPr/>
          <p:nvPr/>
        </p:nvSpPr>
        <p:spPr>
          <a:xfrm>
            <a:off x="8023862" y="3163449"/>
            <a:ext cx="3274715"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Always responds, even if cloud/offline</a:t>
            </a:r>
            <a:endParaRPr lang="en-US" sz="1600" dirty="0"/>
          </a:p>
        </p:txBody>
      </p:sp>
      <p:sp>
        <p:nvSpPr>
          <p:cNvPr id="24" name="Shape 22"/>
          <p:cNvSpPr/>
          <p:nvPr/>
        </p:nvSpPr>
        <p:spPr>
          <a:xfrm>
            <a:off x="613412" y="3520140"/>
            <a:ext cx="10855226" cy="454819"/>
          </a:xfrm>
          <a:prstGeom prst="rect">
            <a:avLst/>
          </a:prstGeom>
          <a:solidFill>
            <a:srgbClr val="000000">
              <a:alpha val="4000"/>
            </a:srgbClr>
          </a:solidFill>
          <a:ln/>
        </p:spPr>
      </p:sp>
      <p:sp>
        <p:nvSpPr>
          <p:cNvPr id="25" name="Text 23"/>
          <p:cNvSpPr/>
          <p:nvPr/>
        </p:nvSpPr>
        <p:spPr>
          <a:xfrm>
            <a:off x="784663" y="3618268"/>
            <a:ext cx="3274715"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Text-to-Speech</a:t>
            </a:r>
            <a:endParaRPr lang="en-US" sz="1600" dirty="0"/>
          </a:p>
        </p:txBody>
      </p:sp>
      <p:sp>
        <p:nvSpPr>
          <p:cNvPr id="26" name="Text 24"/>
          <p:cNvSpPr/>
          <p:nvPr/>
        </p:nvSpPr>
        <p:spPr>
          <a:xfrm>
            <a:off x="4405850" y="3618268"/>
            <a:ext cx="3271540"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edge-tts + PyAV</a:t>
            </a:r>
            <a:endParaRPr lang="en-US" sz="1600" dirty="0"/>
          </a:p>
        </p:txBody>
      </p:sp>
      <p:sp>
        <p:nvSpPr>
          <p:cNvPr id="27" name="Text 25"/>
          <p:cNvSpPr/>
          <p:nvPr/>
        </p:nvSpPr>
        <p:spPr>
          <a:xfrm>
            <a:off x="8023862" y="3618268"/>
            <a:ext cx="3274715"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Microsoft Neural voice, async, in-memory</a:t>
            </a:r>
            <a:endParaRPr lang="en-US" sz="1600" dirty="0"/>
          </a:p>
        </p:txBody>
      </p:sp>
      <p:sp>
        <p:nvSpPr>
          <p:cNvPr id="28" name="Shape 26"/>
          <p:cNvSpPr/>
          <p:nvPr/>
        </p:nvSpPr>
        <p:spPr>
          <a:xfrm>
            <a:off x="613412" y="3974960"/>
            <a:ext cx="10855226" cy="454819"/>
          </a:xfrm>
          <a:prstGeom prst="rect">
            <a:avLst/>
          </a:prstGeom>
          <a:solidFill>
            <a:srgbClr val="FFFFFF">
              <a:alpha val="4000"/>
            </a:srgbClr>
          </a:solidFill>
          <a:ln/>
        </p:spPr>
      </p:sp>
      <p:sp>
        <p:nvSpPr>
          <p:cNvPr id="29" name="Text 27"/>
          <p:cNvSpPr/>
          <p:nvPr/>
        </p:nvSpPr>
        <p:spPr>
          <a:xfrm>
            <a:off x="784663" y="4073086"/>
            <a:ext cx="3274715"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Backend</a:t>
            </a:r>
            <a:endParaRPr lang="en-US" sz="1600" dirty="0"/>
          </a:p>
        </p:txBody>
      </p:sp>
      <p:sp>
        <p:nvSpPr>
          <p:cNvPr id="30" name="Text 28"/>
          <p:cNvSpPr/>
          <p:nvPr/>
        </p:nvSpPr>
        <p:spPr>
          <a:xfrm>
            <a:off x="4405850" y="4073086"/>
            <a:ext cx="3271540"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FastAPI (Python)</a:t>
            </a:r>
            <a:endParaRPr lang="en-US" sz="1600" dirty="0"/>
          </a:p>
        </p:txBody>
      </p:sp>
      <p:sp>
        <p:nvSpPr>
          <p:cNvPr id="31" name="Text 29"/>
          <p:cNvSpPr/>
          <p:nvPr/>
        </p:nvSpPr>
        <p:spPr>
          <a:xfrm>
            <a:off x="8023862" y="4073086"/>
            <a:ext cx="3274715"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Token server + static file serving</a:t>
            </a:r>
            <a:endParaRPr lang="en-US" sz="1600" dirty="0"/>
          </a:p>
        </p:txBody>
      </p:sp>
      <p:sp>
        <p:nvSpPr>
          <p:cNvPr id="32" name="Shape 30"/>
          <p:cNvSpPr/>
          <p:nvPr/>
        </p:nvSpPr>
        <p:spPr>
          <a:xfrm>
            <a:off x="613412" y="4429778"/>
            <a:ext cx="10855226" cy="454819"/>
          </a:xfrm>
          <a:prstGeom prst="rect">
            <a:avLst/>
          </a:prstGeom>
          <a:solidFill>
            <a:srgbClr val="000000">
              <a:alpha val="4000"/>
            </a:srgbClr>
          </a:solidFill>
          <a:ln/>
        </p:spPr>
      </p:sp>
      <p:sp>
        <p:nvSpPr>
          <p:cNvPr id="33" name="Text 31"/>
          <p:cNvSpPr/>
          <p:nvPr/>
        </p:nvSpPr>
        <p:spPr>
          <a:xfrm>
            <a:off x="784663" y="4527905"/>
            <a:ext cx="3274715"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Frontend</a:t>
            </a:r>
            <a:endParaRPr lang="en-US" sz="1600" dirty="0"/>
          </a:p>
        </p:txBody>
      </p:sp>
      <p:sp>
        <p:nvSpPr>
          <p:cNvPr id="34" name="Text 32"/>
          <p:cNvSpPr/>
          <p:nvPr/>
        </p:nvSpPr>
        <p:spPr>
          <a:xfrm>
            <a:off x="4405850" y="4527905"/>
            <a:ext cx="3271540"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Vanilla JS + LiveKit SDK</a:t>
            </a:r>
            <a:endParaRPr lang="en-US" sz="1600" dirty="0"/>
          </a:p>
        </p:txBody>
      </p:sp>
      <p:sp>
        <p:nvSpPr>
          <p:cNvPr id="35" name="Text 33"/>
          <p:cNvSpPr/>
          <p:nvPr/>
        </p:nvSpPr>
        <p:spPr>
          <a:xfrm>
            <a:off x="8023862" y="4527905"/>
            <a:ext cx="3274715"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Browser mic, audio playback, error UI</a:t>
            </a:r>
            <a:endParaRPr lang="en-US" sz="1600" dirty="0"/>
          </a:p>
        </p:txBody>
      </p:sp>
      <p:sp>
        <p:nvSpPr>
          <p:cNvPr id="36" name="Shape 34"/>
          <p:cNvSpPr/>
          <p:nvPr/>
        </p:nvSpPr>
        <p:spPr>
          <a:xfrm>
            <a:off x="613412" y="4884597"/>
            <a:ext cx="10855226" cy="454819"/>
          </a:xfrm>
          <a:prstGeom prst="rect">
            <a:avLst/>
          </a:prstGeom>
          <a:solidFill>
            <a:srgbClr val="FFFFFF">
              <a:alpha val="4000"/>
            </a:srgbClr>
          </a:solidFill>
          <a:ln/>
        </p:spPr>
      </p:sp>
      <p:sp>
        <p:nvSpPr>
          <p:cNvPr id="37" name="Text 35"/>
          <p:cNvSpPr/>
          <p:nvPr/>
        </p:nvSpPr>
        <p:spPr>
          <a:xfrm>
            <a:off x="784663" y="4982724"/>
            <a:ext cx="3274715"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Knowledge Base</a:t>
            </a:r>
            <a:endParaRPr lang="en-US" sz="1600" dirty="0"/>
          </a:p>
        </p:txBody>
      </p:sp>
      <p:sp>
        <p:nvSpPr>
          <p:cNvPr id="38" name="Text 36"/>
          <p:cNvSpPr/>
          <p:nvPr/>
        </p:nvSpPr>
        <p:spPr>
          <a:xfrm>
            <a:off x="4405850" y="4982724"/>
            <a:ext cx="3271540"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JSON dataset + keyword RAG</a:t>
            </a:r>
            <a:endParaRPr lang="en-US" sz="1600" dirty="0"/>
          </a:p>
        </p:txBody>
      </p:sp>
      <p:sp>
        <p:nvSpPr>
          <p:cNvPr id="39" name="Text 37"/>
          <p:cNvSpPr/>
          <p:nvPr/>
        </p:nvSpPr>
        <p:spPr>
          <a:xfrm>
            <a:off x="8023862" y="4982724"/>
            <a:ext cx="3274715" cy="258564"/>
          </a:xfrm>
          <a:prstGeom prst="rect">
            <a:avLst/>
          </a:prstGeom>
          <a:noFill/>
          <a:ln/>
        </p:spPr>
        <p:txBody>
          <a:bodyPr wrap="none" lIns="0" tIns="0" rIns="0" bIns="0" rtlCol="0" anchor="t"/>
          <a:lstStyle/>
          <a:p>
            <a:pPr>
              <a:lnSpc>
                <a:spcPts val="2000"/>
              </a:lnSpc>
            </a:pPr>
            <a:r>
              <a:rPr lang="en-US" sz="1600" dirty="0">
                <a:solidFill>
                  <a:srgbClr val="000000"/>
                </a:solidFill>
                <a:ea typeface="Nunito Sans" pitchFamily="34" charset="-122"/>
                <a:cs typeface="Nunito Sans" pitchFamily="34" charset="-120"/>
              </a:rPr>
              <a:t>Order/product/policy lookups</a:t>
            </a:r>
            <a:endParaRPr lang="en-US" sz="1600" dirty="0"/>
          </a:p>
        </p:txBody>
      </p:sp>
      <p:sp>
        <p:nvSpPr>
          <p:cNvPr id="40" name="Title 39">
            <a:extLst>
              <a:ext uri="{FF2B5EF4-FFF2-40B4-BE49-F238E27FC236}">
                <a16:creationId xmlns:a16="http://schemas.microsoft.com/office/drawing/2014/main" id="{F165ED28-2376-F13D-80CF-8F5E12306282}"/>
              </a:ext>
            </a:extLst>
          </p:cNvPr>
          <p:cNvSpPr>
            <a:spLocks noGrp="1"/>
          </p:cNvSpPr>
          <p:nvPr>
            <p:ph type="title"/>
          </p:nvPr>
        </p:nvSpPr>
        <p:spPr>
          <a:xfrm>
            <a:off x="641846" y="271471"/>
            <a:ext cx="10834234" cy="612775"/>
          </a:xfrm>
        </p:spPr>
        <p:txBody>
          <a:bodyPr>
            <a:normAutofit/>
          </a:bodyPr>
          <a:lstStyle/>
          <a:p>
            <a:r>
              <a:rPr lang="en-US" sz="3200" dirty="0">
                <a:solidFill>
                  <a:srgbClr val="161A3E"/>
                </a:solidFill>
                <a:latin typeface="+mn-lt"/>
                <a:ea typeface="Nunito Sans Bold" pitchFamily="34" charset="-122"/>
                <a:cs typeface="Nunito Sans Bold" pitchFamily="34" charset="-120"/>
              </a:rPr>
              <a:t>Technical Stack</a:t>
            </a:r>
            <a:endParaRPr lang="en-IN" sz="3200" dirty="0">
              <a:latin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626708" y="1049933"/>
            <a:ext cx="5373985" cy="2308225"/>
          </a:xfrm>
          <a:prstGeom prst="roundRect">
            <a:avLst>
              <a:gd name="adj" fmla="val 3961"/>
            </a:avLst>
          </a:prstGeom>
          <a:solidFill>
            <a:srgbClr val="FFFFFF"/>
          </a:solidFill>
          <a:ln/>
        </p:spPr>
      </p:sp>
      <p:sp>
        <p:nvSpPr>
          <p:cNvPr id="4" name="Shape 2"/>
          <p:cNvSpPr/>
          <p:nvPr/>
        </p:nvSpPr>
        <p:spPr>
          <a:xfrm>
            <a:off x="626708" y="1030883"/>
            <a:ext cx="5373985" cy="76200"/>
          </a:xfrm>
          <a:prstGeom prst="roundRect">
            <a:avLst>
              <a:gd name="adj" fmla="val 83349"/>
            </a:avLst>
          </a:prstGeom>
          <a:solidFill>
            <a:srgbClr val="1D1B58"/>
          </a:solidFill>
          <a:ln/>
        </p:spPr>
      </p:sp>
      <p:sp>
        <p:nvSpPr>
          <p:cNvPr id="5" name="Shape 3"/>
          <p:cNvSpPr/>
          <p:nvPr/>
        </p:nvSpPr>
        <p:spPr>
          <a:xfrm>
            <a:off x="3086836" y="823120"/>
            <a:ext cx="453628" cy="453628"/>
          </a:xfrm>
          <a:prstGeom prst="roundRect">
            <a:avLst>
              <a:gd name="adj" fmla="val 167979"/>
            </a:avLst>
          </a:prstGeom>
          <a:solidFill>
            <a:srgbClr val="1D1B58"/>
          </a:solidFill>
          <a:ln/>
        </p:spPr>
      </p:sp>
      <p:sp>
        <p:nvSpPr>
          <p:cNvPr id="6" name="Text 4"/>
          <p:cNvSpPr/>
          <p:nvPr/>
        </p:nvSpPr>
        <p:spPr>
          <a:xfrm>
            <a:off x="3222964" y="936527"/>
            <a:ext cx="181372" cy="226814"/>
          </a:xfrm>
          <a:prstGeom prst="rect">
            <a:avLst/>
          </a:prstGeom>
          <a:noFill/>
          <a:ln/>
        </p:spPr>
        <p:txBody>
          <a:bodyPr wrap="none" lIns="0" tIns="0" rIns="0" bIns="0" rtlCol="0" anchor="t"/>
          <a:lstStyle/>
          <a:p>
            <a:pPr>
              <a:lnSpc>
                <a:spcPts val="2042"/>
              </a:lnSpc>
            </a:pPr>
            <a:r>
              <a:rPr lang="en-US" b="1" dirty="0">
                <a:solidFill>
                  <a:srgbClr val="FFFFFF"/>
                </a:solidFill>
                <a:ea typeface="Nunito Sans Bold" pitchFamily="34" charset="-122"/>
                <a:cs typeface="Nunito Sans Bold" pitchFamily="34" charset="-120"/>
              </a:rPr>
              <a:t>1</a:t>
            </a:r>
            <a:endParaRPr lang="en-US" dirty="0"/>
          </a:p>
        </p:txBody>
      </p:sp>
      <p:sp>
        <p:nvSpPr>
          <p:cNvPr id="7" name="Text 5"/>
          <p:cNvSpPr/>
          <p:nvPr/>
        </p:nvSpPr>
        <p:spPr>
          <a:xfrm>
            <a:off x="796967" y="1427957"/>
            <a:ext cx="1890217" cy="236240"/>
          </a:xfrm>
          <a:prstGeom prst="rect">
            <a:avLst/>
          </a:prstGeom>
          <a:noFill/>
          <a:ln/>
        </p:spPr>
        <p:txBody>
          <a:bodyPr wrap="none" lIns="0" tIns="0" rIns="0" bIns="0" rtlCol="0" anchor="t"/>
          <a:lstStyle/>
          <a:p>
            <a:pPr>
              <a:lnSpc>
                <a:spcPts val="1833"/>
              </a:lnSpc>
            </a:pPr>
            <a:r>
              <a:rPr lang="en-US" b="1" dirty="0">
                <a:solidFill>
                  <a:srgbClr val="000000"/>
                </a:solidFill>
                <a:ea typeface="Nunito Sans Bold" pitchFamily="34" charset="-122"/>
                <a:cs typeface="Nunito Sans Bold" pitchFamily="34" charset="-120"/>
              </a:rPr>
              <a:t>Latency</a:t>
            </a:r>
            <a:endParaRPr lang="en-US" dirty="0"/>
          </a:p>
        </p:txBody>
      </p:sp>
      <p:sp>
        <p:nvSpPr>
          <p:cNvPr id="8" name="Text 6"/>
          <p:cNvSpPr/>
          <p:nvPr/>
        </p:nvSpPr>
        <p:spPr>
          <a:xfrm>
            <a:off x="796967" y="1736725"/>
            <a:ext cx="5033467" cy="435372"/>
          </a:xfrm>
          <a:prstGeom prst="rect">
            <a:avLst/>
          </a:prstGeom>
          <a:noFill/>
          <a:ln/>
        </p:spPr>
        <p:txBody>
          <a:bodyPr wrap="square" lIns="0" tIns="0" rIns="0" bIns="0" rtlCol="0" anchor="t"/>
          <a:lstStyle/>
          <a:p>
            <a:pPr>
              <a:lnSpc>
                <a:spcPts val="1708"/>
              </a:lnSpc>
            </a:pPr>
            <a:r>
              <a:rPr lang="en-US" sz="1400" b="1" dirty="0">
                <a:solidFill>
                  <a:srgbClr val="000000"/>
                </a:solidFill>
                <a:ea typeface="Nunito Sans" pitchFamily="34" charset="-122"/>
                <a:cs typeface="Nunito Sans" pitchFamily="34" charset="-120"/>
              </a:rPr>
              <a:t>Problem:</a:t>
            </a:r>
            <a:r>
              <a:rPr lang="en-US" sz="1400" dirty="0">
                <a:solidFill>
                  <a:srgbClr val="000000"/>
                </a:solidFill>
                <a:ea typeface="Nunito Sans" pitchFamily="34" charset="-122"/>
                <a:cs typeface="Nunito Sans" pitchFamily="34" charset="-120"/>
              </a:rPr>
              <a:t> Voice generation was slow because the system saved audio to temporary files on disk.</a:t>
            </a:r>
            <a:endParaRPr lang="en-US" sz="1400" dirty="0"/>
          </a:p>
        </p:txBody>
      </p:sp>
      <p:sp>
        <p:nvSpPr>
          <p:cNvPr id="9" name="Text 7"/>
          <p:cNvSpPr/>
          <p:nvPr/>
        </p:nvSpPr>
        <p:spPr>
          <a:xfrm>
            <a:off x="796967" y="2244626"/>
            <a:ext cx="5033467" cy="217686"/>
          </a:xfrm>
          <a:prstGeom prst="rect">
            <a:avLst/>
          </a:prstGeom>
          <a:noFill/>
          <a:ln/>
        </p:spPr>
        <p:txBody>
          <a:bodyPr wrap="none" lIns="0" tIns="0" rIns="0" bIns="0" rtlCol="0" anchor="t"/>
          <a:lstStyle/>
          <a:p>
            <a:pPr>
              <a:lnSpc>
                <a:spcPts val="1708"/>
              </a:lnSpc>
            </a:pPr>
            <a:r>
              <a:rPr lang="en-US" sz="1400" b="1" dirty="0">
                <a:solidFill>
                  <a:srgbClr val="000000"/>
                </a:solidFill>
                <a:ea typeface="Nunito Sans" pitchFamily="34" charset="-122"/>
                <a:cs typeface="Nunito Sans" pitchFamily="34" charset="-120"/>
              </a:rPr>
              <a:t>Impact:</a:t>
            </a:r>
            <a:r>
              <a:rPr lang="en-US" sz="1400" dirty="0">
                <a:solidFill>
                  <a:srgbClr val="000000"/>
                </a:solidFill>
                <a:ea typeface="Nunito Sans" pitchFamily="34" charset="-122"/>
                <a:cs typeface="Nunito Sans" pitchFamily="34" charset="-120"/>
              </a:rPr>
              <a:t> Users had to wait 1-2 seconds longer for responses.</a:t>
            </a:r>
            <a:endParaRPr lang="en-US" sz="1400" dirty="0"/>
          </a:p>
        </p:txBody>
      </p:sp>
      <p:sp>
        <p:nvSpPr>
          <p:cNvPr id="10" name="Text 8"/>
          <p:cNvSpPr/>
          <p:nvPr/>
        </p:nvSpPr>
        <p:spPr>
          <a:xfrm>
            <a:off x="796967" y="2534841"/>
            <a:ext cx="5033467" cy="435372"/>
          </a:xfrm>
          <a:prstGeom prst="rect">
            <a:avLst/>
          </a:prstGeom>
          <a:noFill/>
          <a:ln/>
        </p:spPr>
        <p:txBody>
          <a:bodyPr wrap="square" lIns="0" tIns="0" rIns="0" bIns="0" rtlCol="0" anchor="t"/>
          <a:lstStyle/>
          <a:p>
            <a:pPr>
              <a:lnSpc>
                <a:spcPts val="1708"/>
              </a:lnSpc>
            </a:pPr>
            <a:r>
              <a:rPr lang="en-US" sz="1400" b="1" dirty="0">
                <a:solidFill>
                  <a:srgbClr val="000000"/>
                </a:solidFill>
                <a:ea typeface="Nunito Sans" pitchFamily="34" charset="-122"/>
                <a:cs typeface="Nunito Sans" pitchFamily="34" charset="-120"/>
              </a:rPr>
              <a:t>Solution:</a:t>
            </a:r>
            <a:r>
              <a:rPr lang="en-US" sz="1400" dirty="0">
                <a:solidFill>
                  <a:srgbClr val="000000"/>
                </a:solidFill>
                <a:ea typeface="Nunito Sans" pitchFamily="34" charset="-122"/>
                <a:cs typeface="Nunito Sans" pitchFamily="34" charset="-120"/>
              </a:rPr>
              <a:t> Switched to generating audio in memory and streaming it directly, cutting wait time by 50-200ms per response.</a:t>
            </a:r>
            <a:endParaRPr lang="en-US" sz="1400" dirty="0"/>
          </a:p>
        </p:txBody>
      </p:sp>
      <p:sp>
        <p:nvSpPr>
          <p:cNvPr id="11" name="Shape 9"/>
          <p:cNvSpPr/>
          <p:nvPr/>
        </p:nvSpPr>
        <p:spPr>
          <a:xfrm>
            <a:off x="6121641" y="1049933"/>
            <a:ext cx="5374084" cy="2308225"/>
          </a:xfrm>
          <a:prstGeom prst="roundRect">
            <a:avLst>
              <a:gd name="adj" fmla="val 3961"/>
            </a:avLst>
          </a:prstGeom>
          <a:solidFill>
            <a:srgbClr val="FFFFFF"/>
          </a:solidFill>
          <a:ln/>
        </p:spPr>
      </p:sp>
      <p:sp>
        <p:nvSpPr>
          <p:cNvPr id="12" name="Shape 10"/>
          <p:cNvSpPr/>
          <p:nvPr/>
        </p:nvSpPr>
        <p:spPr>
          <a:xfrm>
            <a:off x="6121641" y="1030883"/>
            <a:ext cx="5374084" cy="76200"/>
          </a:xfrm>
          <a:prstGeom prst="roundRect">
            <a:avLst>
              <a:gd name="adj" fmla="val 83349"/>
            </a:avLst>
          </a:prstGeom>
          <a:solidFill>
            <a:srgbClr val="1D1B58"/>
          </a:solidFill>
          <a:ln/>
        </p:spPr>
      </p:sp>
      <p:sp>
        <p:nvSpPr>
          <p:cNvPr id="13" name="Shape 11"/>
          <p:cNvSpPr/>
          <p:nvPr/>
        </p:nvSpPr>
        <p:spPr>
          <a:xfrm>
            <a:off x="8581869" y="823120"/>
            <a:ext cx="453628" cy="453628"/>
          </a:xfrm>
          <a:prstGeom prst="roundRect">
            <a:avLst>
              <a:gd name="adj" fmla="val 167979"/>
            </a:avLst>
          </a:prstGeom>
          <a:solidFill>
            <a:srgbClr val="1D1B58"/>
          </a:solidFill>
          <a:ln/>
        </p:spPr>
      </p:sp>
      <p:sp>
        <p:nvSpPr>
          <p:cNvPr id="14" name="Text 12"/>
          <p:cNvSpPr/>
          <p:nvPr/>
        </p:nvSpPr>
        <p:spPr>
          <a:xfrm>
            <a:off x="8717997" y="936527"/>
            <a:ext cx="181372" cy="226814"/>
          </a:xfrm>
          <a:prstGeom prst="rect">
            <a:avLst/>
          </a:prstGeom>
          <a:noFill/>
          <a:ln/>
        </p:spPr>
        <p:txBody>
          <a:bodyPr wrap="none" lIns="0" tIns="0" rIns="0" bIns="0" rtlCol="0" anchor="t"/>
          <a:lstStyle/>
          <a:p>
            <a:pPr>
              <a:lnSpc>
                <a:spcPts val="2042"/>
              </a:lnSpc>
            </a:pPr>
            <a:r>
              <a:rPr lang="en-US" b="1" dirty="0">
                <a:solidFill>
                  <a:srgbClr val="FFFFFF"/>
                </a:solidFill>
                <a:ea typeface="Nunito Sans Bold" pitchFamily="34" charset="-122"/>
                <a:cs typeface="Nunito Sans Bold" pitchFamily="34" charset="-120"/>
              </a:rPr>
              <a:t>2</a:t>
            </a:r>
            <a:endParaRPr lang="en-US" dirty="0"/>
          </a:p>
        </p:txBody>
      </p:sp>
      <p:sp>
        <p:nvSpPr>
          <p:cNvPr id="15" name="Text 13"/>
          <p:cNvSpPr/>
          <p:nvPr/>
        </p:nvSpPr>
        <p:spPr>
          <a:xfrm>
            <a:off x="6291899" y="1427957"/>
            <a:ext cx="1890217" cy="236240"/>
          </a:xfrm>
          <a:prstGeom prst="rect">
            <a:avLst/>
          </a:prstGeom>
          <a:noFill/>
          <a:ln/>
        </p:spPr>
        <p:txBody>
          <a:bodyPr wrap="none" lIns="0" tIns="0" rIns="0" bIns="0" rtlCol="0" anchor="t"/>
          <a:lstStyle/>
          <a:p>
            <a:pPr>
              <a:lnSpc>
                <a:spcPts val="1833"/>
              </a:lnSpc>
            </a:pPr>
            <a:r>
              <a:rPr lang="en-US" b="1" dirty="0">
                <a:solidFill>
                  <a:srgbClr val="000000"/>
                </a:solidFill>
                <a:ea typeface="Nunito Sans Bold" pitchFamily="34" charset="-122"/>
                <a:cs typeface="Nunito Sans Bold" pitchFamily="34" charset="-120"/>
              </a:rPr>
              <a:t>STT Noise</a:t>
            </a:r>
            <a:endParaRPr lang="en-US" dirty="0"/>
          </a:p>
        </p:txBody>
      </p:sp>
      <p:sp>
        <p:nvSpPr>
          <p:cNvPr id="16" name="Text 14"/>
          <p:cNvSpPr/>
          <p:nvPr/>
        </p:nvSpPr>
        <p:spPr>
          <a:xfrm>
            <a:off x="6291900" y="1736725"/>
            <a:ext cx="5033566" cy="435372"/>
          </a:xfrm>
          <a:prstGeom prst="rect">
            <a:avLst/>
          </a:prstGeom>
          <a:noFill/>
          <a:ln/>
        </p:spPr>
        <p:txBody>
          <a:bodyPr wrap="square" lIns="0" tIns="0" rIns="0" bIns="0" rtlCol="0" anchor="t"/>
          <a:lstStyle/>
          <a:p>
            <a:pPr>
              <a:lnSpc>
                <a:spcPts val="1708"/>
              </a:lnSpc>
            </a:pPr>
            <a:r>
              <a:rPr lang="en-US" sz="1400" b="1" dirty="0">
                <a:solidFill>
                  <a:srgbClr val="000000"/>
                </a:solidFill>
                <a:ea typeface="Nunito Sans" pitchFamily="34" charset="-122"/>
                <a:cs typeface="Nunito Sans" pitchFamily="34" charset="-120"/>
              </a:rPr>
              <a:t>Problem:</a:t>
            </a:r>
            <a:r>
              <a:rPr lang="en-US" sz="1400" dirty="0">
                <a:solidFill>
                  <a:srgbClr val="000000"/>
                </a:solidFill>
                <a:ea typeface="Nunito Sans" pitchFamily="34" charset="-122"/>
                <a:cs typeface="Nunito Sans" pitchFamily="34" charset="-120"/>
              </a:rPr>
              <a:t> The system picked up background noise and tried to transcribe it as speech.</a:t>
            </a:r>
            <a:endParaRPr lang="en-US" sz="1400" dirty="0"/>
          </a:p>
        </p:txBody>
      </p:sp>
      <p:sp>
        <p:nvSpPr>
          <p:cNvPr id="17" name="Text 15"/>
          <p:cNvSpPr/>
          <p:nvPr/>
        </p:nvSpPr>
        <p:spPr>
          <a:xfrm>
            <a:off x="6291900" y="2244626"/>
            <a:ext cx="5033566" cy="435372"/>
          </a:xfrm>
          <a:prstGeom prst="rect">
            <a:avLst/>
          </a:prstGeom>
          <a:noFill/>
          <a:ln/>
        </p:spPr>
        <p:txBody>
          <a:bodyPr wrap="square" lIns="0" tIns="0" rIns="0" bIns="0" rtlCol="0" anchor="t"/>
          <a:lstStyle/>
          <a:p>
            <a:pPr>
              <a:lnSpc>
                <a:spcPts val="1708"/>
              </a:lnSpc>
            </a:pPr>
            <a:r>
              <a:rPr lang="en-US" sz="1400" b="1" dirty="0">
                <a:solidFill>
                  <a:srgbClr val="000000"/>
                </a:solidFill>
                <a:ea typeface="Nunito Sans" pitchFamily="34" charset="-122"/>
                <a:cs typeface="Nunito Sans" pitchFamily="34" charset="-120"/>
              </a:rPr>
              <a:t>Impact:</a:t>
            </a:r>
            <a:r>
              <a:rPr lang="en-US" sz="1400" dirty="0">
                <a:solidFill>
                  <a:srgbClr val="000000"/>
                </a:solidFill>
                <a:ea typeface="Nunito Sans" pitchFamily="34" charset="-122"/>
                <a:cs typeface="Nunito Sans" pitchFamily="34" charset="-120"/>
              </a:rPr>
              <a:t> Reduced accuracy and wasted processing time on non-speech audio.</a:t>
            </a:r>
            <a:endParaRPr lang="en-US" sz="1400" dirty="0"/>
          </a:p>
        </p:txBody>
      </p:sp>
      <p:sp>
        <p:nvSpPr>
          <p:cNvPr id="18" name="Text 16"/>
          <p:cNvSpPr/>
          <p:nvPr/>
        </p:nvSpPr>
        <p:spPr>
          <a:xfrm>
            <a:off x="6291900" y="2752527"/>
            <a:ext cx="5033566" cy="435372"/>
          </a:xfrm>
          <a:prstGeom prst="rect">
            <a:avLst/>
          </a:prstGeom>
          <a:noFill/>
          <a:ln/>
        </p:spPr>
        <p:txBody>
          <a:bodyPr wrap="square" lIns="0" tIns="0" rIns="0" bIns="0" rtlCol="0" anchor="t"/>
          <a:lstStyle/>
          <a:p>
            <a:pPr>
              <a:lnSpc>
                <a:spcPts val="1708"/>
              </a:lnSpc>
            </a:pPr>
            <a:r>
              <a:rPr lang="en-US" sz="1400" b="1" dirty="0">
                <a:solidFill>
                  <a:srgbClr val="000000"/>
                </a:solidFill>
                <a:ea typeface="Nunito Sans" pitchFamily="34" charset="-122"/>
                <a:cs typeface="Nunito Sans" pitchFamily="34" charset="-120"/>
              </a:rPr>
              <a:t>Solution:</a:t>
            </a:r>
            <a:r>
              <a:rPr lang="en-US" sz="1400" dirty="0">
                <a:solidFill>
                  <a:srgbClr val="000000"/>
                </a:solidFill>
                <a:ea typeface="Nunito Sans" pitchFamily="34" charset="-122"/>
                <a:cs typeface="Nunito Sans" pitchFamily="34" charset="-120"/>
              </a:rPr>
              <a:t> Added multiple filters - a noise gate that checks sound energy levels, and a speech detector that only processes actual voice.</a:t>
            </a:r>
            <a:endParaRPr lang="en-US" sz="1400" dirty="0"/>
          </a:p>
        </p:txBody>
      </p:sp>
      <p:sp>
        <p:nvSpPr>
          <p:cNvPr id="19" name="Shape 17"/>
          <p:cNvSpPr/>
          <p:nvPr/>
        </p:nvSpPr>
        <p:spPr>
          <a:xfrm>
            <a:off x="626708" y="3705921"/>
            <a:ext cx="5373985" cy="2090539"/>
          </a:xfrm>
          <a:prstGeom prst="roundRect">
            <a:avLst>
              <a:gd name="adj" fmla="val 4374"/>
            </a:avLst>
          </a:prstGeom>
          <a:solidFill>
            <a:srgbClr val="FFFFFF"/>
          </a:solidFill>
          <a:ln/>
        </p:spPr>
      </p:sp>
      <p:sp>
        <p:nvSpPr>
          <p:cNvPr id="20" name="Shape 18"/>
          <p:cNvSpPr/>
          <p:nvPr/>
        </p:nvSpPr>
        <p:spPr>
          <a:xfrm>
            <a:off x="626708" y="3686870"/>
            <a:ext cx="5373985" cy="76200"/>
          </a:xfrm>
          <a:prstGeom prst="roundRect">
            <a:avLst>
              <a:gd name="adj" fmla="val 83349"/>
            </a:avLst>
          </a:prstGeom>
          <a:solidFill>
            <a:srgbClr val="1D1B58"/>
          </a:solidFill>
          <a:ln/>
        </p:spPr>
      </p:sp>
      <p:sp>
        <p:nvSpPr>
          <p:cNvPr id="21" name="Shape 19"/>
          <p:cNvSpPr/>
          <p:nvPr/>
        </p:nvSpPr>
        <p:spPr>
          <a:xfrm>
            <a:off x="3086836" y="3479106"/>
            <a:ext cx="453628" cy="453628"/>
          </a:xfrm>
          <a:prstGeom prst="roundRect">
            <a:avLst>
              <a:gd name="adj" fmla="val 167979"/>
            </a:avLst>
          </a:prstGeom>
          <a:solidFill>
            <a:srgbClr val="1D1B58"/>
          </a:solidFill>
          <a:ln/>
        </p:spPr>
      </p:sp>
      <p:sp>
        <p:nvSpPr>
          <p:cNvPr id="22" name="Text 20"/>
          <p:cNvSpPr/>
          <p:nvPr/>
        </p:nvSpPr>
        <p:spPr>
          <a:xfrm>
            <a:off x="3222964" y="3592513"/>
            <a:ext cx="181372" cy="226814"/>
          </a:xfrm>
          <a:prstGeom prst="rect">
            <a:avLst/>
          </a:prstGeom>
          <a:noFill/>
          <a:ln/>
        </p:spPr>
        <p:txBody>
          <a:bodyPr wrap="none" lIns="0" tIns="0" rIns="0" bIns="0" rtlCol="0" anchor="t"/>
          <a:lstStyle/>
          <a:p>
            <a:pPr>
              <a:lnSpc>
                <a:spcPts val="2042"/>
              </a:lnSpc>
            </a:pPr>
            <a:r>
              <a:rPr lang="en-US" b="1" dirty="0">
                <a:solidFill>
                  <a:srgbClr val="FFFFFF"/>
                </a:solidFill>
                <a:ea typeface="Nunito Sans Bold" pitchFamily="34" charset="-122"/>
                <a:cs typeface="Nunito Sans Bold" pitchFamily="34" charset="-120"/>
              </a:rPr>
              <a:t>3</a:t>
            </a:r>
            <a:endParaRPr lang="en-US" dirty="0"/>
          </a:p>
        </p:txBody>
      </p:sp>
      <p:sp>
        <p:nvSpPr>
          <p:cNvPr id="23" name="Text 21"/>
          <p:cNvSpPr/>
          <p:nvPr/>
        </p:nvSpPr>
        <p:spPr>
          <a:xfrm>
            <a:off x="796967" y="4083944"/>
            <a:ext cx="1890217" cy="236240"/>
          </a:xfrm>
          <a:prstGeom prst="rect">
            <a:avLst/>
          </a:prstGeom>
          <a:noFill/>
          <a:ln/>
        </p:spPr>
        <p:txBody>
          <a:bodyPr wrap="none" lIns="0" tIns="0" rIns="0" bIns="0" rtlCol="0" anchor="t"/>
          <a:lstStyle/>
          <a:p>
            <a:pPr>
              <a:lnSpc>
                <a:spcPts val="1833"/>
              </a:lnSpc>
            </a:pPr>
            <a:r>
              <a:rPr lang="en-US" b="1" dirty="0">
                <a:solidFill>
                  <a:srgbClr val="000000"/>
                </a:solidFill>
                <a:ea typeface="Nunito Sans Bold" pitchFamily="34" charset="-122"/>
                <a:cs typeface="Nunito Sans Bold" pitchFamily="34" charset="-120"/>
              </a:rPr>
              <a:t>LLM Timeouts</a:t>
            </a:r>
            <a:endParaRPr lang="en-US" dirty="0"/>
          </a:p>
        </p:txBody>
      </p:sp>
      <p:sp>
        <p:nvSpPr>
          <p:cNvPr id="24" name="Text 22"/>
          <p:cNvSpPr/>
          <p:nvPr/>
        </p:nvSpPr>
        <p:spPr>
          <a:xfrm>
            <a:off x="796967" y="4392712"/>
            <a:ext cx="5033467" cy="435372"/>
          </a:xfrm>
          <a:prstGeom prst="rect">
            <a:avLst/>
          </a:prstGeom>
          <a:noFill/>
          <a:ln/>
        </p:spPr>
        <p:txBody>
          <a:bodyPr wrap="square" lIns="0" tIns="0" rIns="0" bIns="0" rtlCol="0" anchor="t"/>
          <a:lstStyle/>
          <a:p>
            <a:pPr>
              <a:lnSpc>
                <a:spcPts val="1708"/>
              </a:lnSpc>
            </a:pPr>
            <a:r>
              <a:rPr lang="en-US" sz="1400" b="1" dirty="0">
                <a:solidFill>
                  <a:srgbClr val="000000"/>
                </a:solidFill>
                <a:ea typeface="Nunito Sans" pitchFamily="34" charset="-122"/>
                <a:cs typeface="Nunito Sans" pitchFamily="34" charset="-120"/>
              </a:rPr>
              <a:t>Problem:</a:t>
            </a:r>
            <a:r>
              <a:rPr lang="en-US" sz="1400" dirty="0">
                <a:solidFill>
                  <a:srgbClr val="000000"/>
                </a:solidFill>
                <a:ea typeface="Nunito Sans" pitchFamily="34" charset="-122"/>
                <a:cs typeface="Nunito Sans" pitchFamily="34" charset="-120"/>
              </a:rPr>
              <a:t> The AI model took longer to think than the system allowed, causing responses to fail.</a:t>
            </a:r>
            <a:endParaRPr lang="en-US" sz="1400" dirty="0"/>
          </a:p>
        </p:txBody>
      </p:sp>
      <p:sp>
        <p:nvSpPr>
          <p:cNvPr id="25" name="Text 23"/>
          <p:cNvSpPr/>
          <p:nvPr/>
        </p:nvSpPr>
        <p:spPr>
          <a:xfrm>
            <a:off x="796967" y="4900613"/>
            <a:ext cx="5033467" cy="217686"/>
          </a:xfrm>
          <a:prstGeom prst="rect">
            <a:avLst/>
          </a:prstGeom>
          <a:noFill/>
          <a:ln/>
        </p:spPr>
        <p:txBody>
          <a:bodyPr wrap="none" lIns="0" tIns="0" rIns="0" bIns="0" rtlCol="0" anchor="t"/>
          <a:lstStyle/>
          <a:p>
            <a:pPr>
              <a:lnSpc>
                <a:spcPts val="1708"/>
              </a:lnSpc>
            </a:pPr>
            <a:r>
              <a:rPr lang="en-US" sz="1400" b="1" dirty="0">
                <a:solidFill>
                  <a:srgbClr val="000000"/>
                </a:solidFill>
                <a:ea typeface="Nunito Sans" pitchFamily="34" charset="-122"/>
                <a:cs typeface="Nunito Sans" pitchFamily="34" charset="-120"/>
              </a:rPr>
              <a:t>Impact:</a:t>
            </a:r>
            <a:r>
              <a:rPr lang="en-US" sz="1400" dirty="0">
                <a:solidFill>
                  <a:srgbClr val="000000"/>
                </a:solidFill>
                <a:ea typeface="Nunito Sans" pitchFamily="34" charset="-122"/>
                <a:cs typeface="Nunito Sans" pitchFamily="34" charset="-120"/>
              </a:rPr>
              <a:t> Users got error messages instead of answers.</a:t>
            </a:r>
            <a:endParaRPr lang="en-US" sz="1400" dirty="0"/>
          </a:p>
        </p:txBody>
      </p:sp>
      <p:sp>
        <p:nvSpPr>
          <p:cNvPr id="26" name="Text 24"/>
          <p:cNvSpPr/>
          <p:nvPr/>
        </p:nvSpPr>
        <p:spPr>
          <a:xfrm>
            <a:off x="796967" y="5190828"/>
            <a:ext cx="5033467" cy="435372"/>
          </a:xfrm>
          <a:prstGeom prst="rect">
            <a:avLst/>
          </a:prstGeom>
          <a:noFill/>
          <a:ln/>
        </p:spPr>
        <p:txBody>
          <a:bodyPr wrap="square" lIns="0" tIns="0" rIns="0" bIns="0" rtlCol="0" anchor="t"/>
          <a:lstStyle/>
          <a:p>
            <a:pPr>
              <a:lnSpc>
                <a:spcPts val="1708"/>
              </a:lnSpc>
            </a:pPr>
            <a:r>
              <a:rPr lang="en-US" sz="1400" b="1" dirty="0">
                <a:solidFill>
                  <a:srgbClr val="000000"/>
                </a:solidFill>
                <a:ea typeface="Nunito Sans" pitchFamily="34" charset="-122"/>
                <a:cs typeface="Nunito Sans" pitchFamily="34" charset="-120"/>
              </a:rPr>
              <a:t>Solution:</a:t>
            </a:r>
            <a:r>
              <a:rPr lang="en-US" sz="1400" dirty="0">
                <a:solidFill>
                  <a:srgbClr val="000000"/>
                </a:solidFill>
                <a:ea typeface="Nunito Sans" pitchFamily="34" charset="-122"/>
                <a:cs typeface="Nunito Sans" pitchFamily="34" charset="-120"/>
              </a:rPr>
              <a:t> Increased the thinking time limit from 12 seconds to 15 seconds, matching how long the AI actually needs.</a:t>
            </a:r>
            <a:endParaRPr lang="en-US" sz="1400" dirty="0"/>
          </a:p>
        </p:txBody>
      </p:sp>
      <p:sp>
        <p:nvSpPr>
          <p:cNvPr id="27" name="Shape 25"/>
          <p:cNvSpPr/>
          <p:nvPr/>
        </p:nvSpPr>
        <p:spPr>
          <a:xfrm>
            <a:off x="6121641" y="3705921"/>
            <a:ext cx="5374084" cy="2090539"/>
          </a:xfrm>
          <a:prstGeom prst="roundRect">
            <a:avLst>
              <a:gd name="adj" fmla="val 4374"/>
            </a:avLst>
          </a:prstGeom>
          <a:solidFill>
            <a:srgbClr val="FFFFFF"/>
          </a:solidFill>
          <a:ln/>
        </p:spPr>
      </p:sp>
      <p:sp>
        <p:nvSpPr>
          <p:cNvPr id="28" name="Shape 26"/>
          <p:cNvSpPr/>
          <p:nvPr/>
        </p:nvSpPr>
        <p:spPr>
          <a:xfrm>
            <a:off x="6121641" y="3686870"/>
            <a:ext cx="5374084" cy="76200"/>
          </a:xfrm>
          <a:prstGeom prst="roundRect">
            <a:avLst>
              <a:gd name="adj" fmla="val 83349"/>
            </a:avLst>
          </a:prstGeom>
          <a:solidFill>
            <a:srgbClr val="1D1B58"/>
          </a:solidFill>
          <a:ln/>
        </p:spPr>
      </p:sp>
      <p:sp>
        <p:nvSpPr>
          <p:cNvPr id="29" name="Shape 27"/>
          <p:cNvSpPr/>
          <p:nvPr/>
        </p:nvSpPr>
        <p:spPr>
          <a:xfrm>
            <a:off x="8581869" y="3479106"/>
            <a:ext cx="453628" cy="453628"/>
          </a:xfrm>
          <a:prstGeom prst="roundRect">
            <a:avLst>
              <a:gd name="adj" fmla="val 167979"/>
            </a:avLst>
          </a:prstGeom>
          <a:solidFill>
            <a:srgbClr val="1D1B58"/>
          </a:solidFill>
          <a:ln/>
        </p:spPr>
      </p:sp>
      <p:sp>
        <p:nvSpPr>
          <p:cNvPr id="30" name="Text 28"/>
          <p:cNvSpPr/>
          <p:nvPr/>
        </p:nvSpPr>
        <p:spPr>
          <a:xfrm>
            <a:off x="8717997" y="3592513"/>
            <a:ext cx="181372" cy="226814"/>
          </a:xfrm>
          <a:prstGeom prst="rect">
            <a:avLst/>
          </a:prstGeom>
          <a:noFill/>
          <a:ln/>
        </p:spPr>
        <p:txBody>
          <a:bodyPr wrap="none" lIns="0" tIns="0" rIns="0" bIns="0" rtlCol="0" anchor="t"/>
          <a:lstStyle/>
          <a:p>
            <a:pPr>
              <a:lnSpc>
                <a:spcPts val="2042"/>
              </a:lnSpc>
            </a:pPr>
            <a:r>
              <a:rPr lang="en-US" b="1" dirty="0">
                <a:solidFill>
                  <a:srgbClr val="FFFFFF"/>
                </a:solidFill>
                <a:ea typeface="Nunito Sans Bold" pitchFamily="34" charset="-122"/>
                <a:cs typeface="Nunito Sans Bold" pitchFamily="34" charset="-120"/>
              </a:rPr>
              <a:t>4</a:t>
            </a:r>
            <a:endParaRPr lang="en-US" dirty="0"/>
          </a:p>
        </p:txBody>
      </p:sp>
      <p:sp>
        <p:nvSpPr>
          <p:cNvPr id="31" name="Text 29"/>
          <p:cNvSpPr/>
          <p:nvPr/>
        </p:nvSpPr>
        <p:spPr>
          <a:xfrm>
            <a:off x="6291899" y="4083944"/>
            <a:ext cx="1890217" cy="236240"/>
          </a:xfrm>
          <a:prstGeom prst="rect">
            <a:avLst/>
          </a:prstGeom>
          <a:noFill/>
          <a:ln/>
        </p:spPr>
        <p:txBody>
          <a:bodyPr wrap="none" lIns="0" tIns="0" rIns="0" bIns="0" rtlCol="0" anchor="t"/>
          <a:lstStyle/>
          <a:p>
            <a:pPr>
              <a:lnSpc>
                <a:spcPts val="1833"/>
              </a:lnSpc>
            </a:pPr>
            <a:r>
              <a:rPr lang="en-US" b="1" dirty="0">
                <a:solidFill>
                  <a:srgbClr val="000000"/>
                </a:solidFill>
                <a:ea typeface="Nunito Sans Bold" pitchFamily="34" charset="-122"/>
                <a:cs typeface="Nunito Sans Bold" pitchFamily="34" charset="-120"/>
              </a:rPr>
              <a:t>Browser Autoplay</a:t>
            </a:r>
            <a:endParaRPr lang="en-US" dirty="0"/>
          </a:p>
        </p:txBody>
      </p:sp>
      <p:sp>
        <p:nvSpPr>
          <p:cNvPr id="32" name="Text 30"/>
          <p:cNvSpPr/>
          <p:nvPr/>
        </p:nvSpPr>
        <p:spPr>
          <a:xfrm>
            <a:off x="6291900" y="4392712"/>
            <a:ext cx="5033566" cy="435372"/>
          </a:xfrm>
          <a:prstGeom prst="rect">
            <a:avLst/>
          </a:prstGeom>
          <a:noFill/>
          <a:ln/>
        </p:spPr>
        <p:txBody>
          <a:bodyPr wrap="square" lIns="0" tIns="0" rIns="0" bIns="0" rtlCol="0" anchor="t"/>
          <a:lstStyle/>
          <a:p>
            <a:pPr>
              <a:lnSpc>
                <a:spcPts val="1708"/>
              </a:lnSpc>
            </a:pPr>
            <a:r>
              <a:rPr lang="en-US" sz="1400" b="1" dirty="0">
                <a:solidFill>
                  <a:srgbClr val="000000"/>
                </a:solidFill>
                <a:ea typeface="Nunito Sans" pitchFamily="34" charset="-122"/>
                <a:cs typeface="Nunito Sans" pitchFamily="34" charset="-120"/>
              </a:rPr>
              <a:t>Problem:</a:t>
            </a:r>
            <a:r>
              <a:rPr lang="en-US" sz="1400" dirty="0">
                <a:solidFill>
                  <a:srgbClr val="000000"/>
                </a:solidFill>
                <a:ea typeface="Nunito Sans" pitchFamily="34" charset="-122"/>
                <a:cs typeface="Nunito Sans" pitchFamily="34" charset="-120"/>
              </a:rPr>
              <a:t> Web browsers block audio playback until the user clicks something (security feature).</a:t>
            </a:r>
            <a:endParaRPr lang="en-US" sz="1400" dirty="0"/>
          </a:p>
        </p:txBody>
      </p:sp>
      <p:sp>
        <p:nvSpPr>
          <p:cNvPr id="33" name="Text 31"/>
          <p:cNvSpPr/>
          <p:nvPr/>
        </p:nvSpPr>
        <p:spPr>
          <a:xfrm>
            <a:off x="6291900" y="4900613"/>
            <a:ext cx="5033566" cy="217686"/>
          </a:xfrm>
          <a:prstGeom prst="rect">
            <a:avLst/>
          </a:prstGeom>
          <a:noFill/>
          <a:ln/>
        </p:spPr>
        <p:txBody>
          <a:bodyPr wrap="none" lIns="0" tIns="0" rIns="0" bIns="0" rtlCol="0" anchor="t"/>
          <a:lstStyle/>
          <a:p>
            <a:pPr>
              <a:lnSpc>
                <a:spcPts val="1708"/>
              </a:lnSpc>
            </a:pPr>
            <a:r>
              <a:rPr lang="en-US" sz="1400" b="1" dirty="0">
                <a:solidFill>
                  <a:srgbClr val="000000"/>
                </a:solidFill>
                <a:ea typeface="Nunito Sans" pitchFamily="34" charset="-122"/>
                <a:cs typeface="Nunito Sans" pitchFamily="34" charset="-120"/>
              </a:rPr>
              <a:t>Impact:</a:t>
            </a:r>
            <a:r>
              <a:rPr lang="en-US" sz="1400" dirty="0">
                <a:solidFill>
                  <a:srgbClr val="000000"/>
                </a:solidFill>
                <a:ea typeface="Nunito Sans" pitchFamily="34" charset="-122"/>
                <a:cs typeface="Nunito Sans" pitchFamily="34" charset="-120"/>
              </a:rPr>
              <a:t> Bot couldn't speak on first load.</a:t>
            </a:r>
            <a:endParaRPr lang="en-US" sz="1400" dirty="0"/>
          </a:p>
        </p:txBody>
      </p:sp>
      <p:sp>
        <p:nvSpPr>
          <p:cNvPr id="34" name="Text 32"/>
          <p:cNvSpPr/>
          <p:nvPr/>
        </p:nvSpPr>
        <p:spPr>
          <a:xfrm>
            <a:off x="6291900" y="5190828"/>
            <a:ext cx="5033566" cy="435372"/>
          </a:xfrm>
          <a:prstGeom prst="rect">
            <a:avLst/>
          </a:prstGeom>
          <a:noFill/>
          <a:ln/>
        </p:spPr>
        <p:txBody>
          <a:bodyPr wrap="square" lIns="0" tIns="0" rIns="0" bIns="0" rtlCol="0" anchor="t"/>
          <a:lstStyle/>
          <a:p>
            <a:pPr>
              <a:lnSpc>
                <a:spcPts val="1708"/>
              </a:lnSpc>
            </a:pPr>
            <a:r>
              <a:rPr lang="en-US" sz="1400" b="1" dirty="0">
                <a:solidFill>
                  <a:srgbClr val="000000"/>
                </a:solidFill>
                <a:ea typeface="Nunito Sans" pitchFamily="34" charset="-122"/>
                <a:cs typeface="Nunito Sans" pitchFamily="34" charset="-120"/>
              </a:rPr>
              <a:t>Solution:</a:t>
            </a:r>
            <a:r>
              <a:rPr lang="en-US" sz="1400" dirty="0">
                <a:solidFill>
                  <a:srgbClr val="000000"/>
                </a:solidFill>
                <a:ea typeface="Nunito Sans" pitchFamily="34" charset="-122"/>
                <a:cs typeface="Nunito Sans" pitchFamily="34" charset="-120"/>
              </a:rPr>
              <a:t> Added a click-to-start button that unlocks audio playback for the rest of the session.</a:t>
            </a:r>
            <a:endParaRPr lang="en-US" sz="1400" dirty="0"/>
          </a:p>
        </p:txBody>
      </p:sp>
      <p:sp>
        <p:nvSpPr>
          <p:cNvPr id="35" name="Title 34">
            <a:extLst>
              <a:ext uri="{FF2B5EF4-FFF2-40B4-BE49-F238E27FC236}">
                <a16:creationId xmlns:a16="http://schemas.microsoft.com/office/drawing/2014/main" id="{CC91964D-C9C7-BEFF-E333-2653A5B37C0B}"/>
              </a:ext>
            </a:extLst>
          </p:cNvPr>
          <p:cNvSpPr>
            <a:spLocks noGrp="1"/>
          </p:cNvSpPr>
          <p:nvPr>
            <p:ph type="title"/>
          </p:nvPr>
        </p:nvSpPr>
        <p:spPr>
          <a:xfrm>
            <a:off x="696275" y="210345"/>
            <a:ext cx="10834234" cy="612775"/>
          </a:xfrm>
        </p:spPr>
        <p:txBody>
          <a:bodyPr>
            <a:normAutofit/>
          </a:bodyPr>
          <a:lstStyle/>
          <a:p>
            <a:r>
              <a:rPr lang="en-US" sz="3200" dirty="0">
                <a:solidFill>
                  <a:srgbClr val="161A3E"/>
                </a:solidFill>
                <a:latin typeface="+mn-lt"/>
                <a:ea typeface="Nunito Sans Bold" pitchFamily="34" charset="-122"/>
                <a:cs typeface="Nunito Sans Bold" pitchFamily="34" charset="-120"/>
              </a:rPr>
              <a:t>Key Engineering Challenges</a:t>
            </a:r>
            <a:endParaRPr lang="en-IN" sz="3200" dirty="0">
              <a:latin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7D70A-D8E7-489B-3A2B-E7EAF88A7AE5}"/>
            </a:ext>
          </a:extLst>
        </p:cNvPr>
        <p:cNvGrpSpPr/>
        <p:nvPr/>
      </p:nvGrpSpPr>
      <p:grpSpPr>
        <a:xfrm>
          <a:off x="0" y="0"/>
          <a:ext cx="0" cy="0"/>
          <a:chOff x="0" y="0"/>
          <a:chExt cx="0" cy="0"/>
        </a:xfrm>
      </p:grpSpPr>
      <p:pic>
        <p:nvPicPr>
          <p:cNvPr id="4" name="Image 1" descr="preencoded.png">
            <a:extLst>
              <a:ext uri="{FF2B5EF4-FFF2-40B4-BE49-F238E27FC236}">
                <a16:creationId xmlns:a16="http://schemas.microsoft.com/office/drawing/2014/main" id="{D5374D98-34D2-BA3A-FE13-FD344D692BAB}"/>
              </a:ext>
            </a:extLst>
          </p:cNvPr>
          <p:cNvPicPr>
            <a:picLocks noChangeAspect="1"/>
          </p:cNvPicPr>
          <p:nvPr/>
        </p:nvPicPr>
        <p:blipFill>
          <a:blip r:embed="rId3"/>
          <a:stretch>
            <a:fillRect/>
          </a:stretch>
        </p:blipFill>
        <p:spPr>
          <a:xfrm>
            <a:off x="563521" y="1119868"/>
            <a:ext cx="3063181" cy="2842419"/>
          </a:xfrm>
          <a:prstGeom prst="rect">
            <a:avLst/>
          </a:prstGeom>
        </p:spPr>
      </p:pic>
      <p:sp>
        <p:nvSpPr>
          <p:cNvPr id="5" name="Text 1">
            <a:extLst>
              <a:ext uri="{FF2B5EF4-FFF2-40B4-BE49-F238E27FC236}">
                <a16:creationId xmlns:a16="http://schemas.microsoft.com/office/drawing/2014/main" id="{A8181992-F8C8-AED0-DB6E-5AF9DAEC3916}"/>
              </a:ext>
            </a:extLst>
          </p:cNvPr>
          <p:cNvSpPr/>
          <p:nvPr/>
        </p:nvSpPr>
        <p:spPr>
          <a:xfrm>
            <a:off x="743008" y="1299354"/>
            <a:ext cx="2244626" cy="280492"/>
          </a:xfrm>
          <a:prstGeom prst="rect">
            <a:avLst/>
          </a:prstGeom>
          <a:noFill/>
          <a:ln/>
        </p:spPr>
        <p:txBody>
          <a:bodyPr wrap="none" lIns="0" tIns="0" rIns="0" bIns="0" rtlCol="0" anchor="t"/>
          <a:lstStyle/>
          <a:p>
            <a:pPr>
              <a:lnSpc>
                <a:spcPts val="2208"/>
              </a:lnSpc>
            </a:pPr>
            <a:r>
              <a:rPr lang="en-US" sz="2000" b="1" dirty="0">
                <a:solidFill>
                  <a:srgbClr val="000000"/>
                </a:solidFill>
                <a:ea typeface="Nunito Sans Bold" pitchFamily="34" charset="-122"/>
                <a:cs typeface="Nunito Sans Bold" pitchFamily="34" charset="-120"/>
              </a:rPr>
              <a:t>Order Tracking</a:t>
            </a:r>
            <a:endParaRPr lang="en-US" sz="2000" dirty="0"/>
          </a:p>
        </p:txBody>
      </p:sp>
      <p:sp>
        <p:nvSpPr>
          <p:cNvPr id="6" name="Text 2">
            <a:extLst>
              <a:ext uri="{FF2B5EF4-FFF2-40B4-BE49-F238E27FC236}">
                <a16:creationId xmlns:a16="http://schemas.microsoft.com/office/drawing/2014/main" id="{C6E815B5-6B95-F79B-445F-145E4179A9C8}"/>
              </a:ext>
            </a:extLst>
          </p:cNvPr>
          <p:cNvSpPr/>
          <p:nvPr/>
        </p:nvSpPr>
        <p:spPr>
          <a:xfrm>
            <a:off x="743007" y="1682140"/>
            <a:ext cx="2704207" cy="560189"/>
          </a:xfrm>
          <a:prstGeom prst="rect">
            <a:avLst/>
          </a:prstGeom>
          <a:noFill/>
          <a:ln/>
        </p:spPr>
        <p:txBody>
          <a:bodyPr wrap="square" lIns="0" tIns="0" rIns="0" bIns="0" rtlCol="0" anchor="t"/>
          <a:lstStyle/>
          <a:p>
            <a:pPr>
              <a:lnSpc>
                <a:spcPts val="2167"/>
              </a:lnSpc>
            </a:pPr>
            <a:r>
              <a:rPr lang="en-US" sz="1600" i="1" dirty="0">
                <a:solidFill>
                  <a:srgbClr val="000000"/>
                </a:solidFill>
                <a:ea typeface="Nunito Sans" pitchFamily="34" charset="-122"/>
                <a:cs typeface="Nunito Sans" pitchFamily="34" charset="-120"/>
              </a:rPr>
              <a:t>"What is the status of order 12345?"</a:t>
            </a:r>
            <a:endParaRPr lang="en-US" sz="1600" dirty="0"/>
          </a:p>
        </p:txBody>
      </p:sp>
      <p:sp>
        <p:nvSpPr>
          <p:cNvPr id="7" name="Text 3">
            <a:extLst>
              <a:ext uri="{FF2B5EF4-FFF2-40B4-BE49-F238E27FC236}">
                <a16:creationId xmlns:a16="http://schemas.microsoft.com/office/drawing/2014/main" id="{23FA97D4-CEE0-FDBC-CE47-99ABC52A66E2}"/>
              </a:ext>
            </a:extLst>
          </p:cNvPr>
          <p:cNvSpPr/>
          <p:nvPr/>
        </p:nvSpPr>
        <p:spPr>
          <a:xfrm>
            <a:off x="743007" y="2344623"/>
            <a:ext cx="2704207" cy="560189"/>
          </a:xfrm>
          <a:prstGeom prst="rect">
            <a:avLst/>
          </a:prstGeom>
          <a:noFill/>
          <a:ln/>
        </p:spPr>
        <p:txBody>
          <a:bodyPr wrap="square" lIns="0" tIns="0" rIns="0" bIns="0" rtlCol="0" anchor="t"/>
          <a:lstStyle/>
          <a:p>
            <a:pPr>
              <a:lnSpc>
                <a:spcPts val="2167"/>
              </a:lnSpc>
            </a:pPr>
            <a:r>
              <a:rPr lang="en-US" sz="1600" b="1" dirty="0">
                <a:solidFill>
                  <a:srgbClr val="000000"/>
                </a:solidFill>
                <a:ea typeface="Nunito Sans" pitchFamily="34" charset="-122"/>
                <a:cs typeface="Nunito Sans" pitchFamily="34" charset="-120"/>
              </a:rPr>
              <a:t>Bot:</a:t>
            </a:r>
            <a:r>
              <a:rPr lang="en-US" sz="1600" dirty="0">
                <a:solidFill>
                  <a:srgbClr val="000000"/>
                </a:solidFill>
                <a:ea typeface="Nunito Sans" pitchFamily="34" charset="-122"/>
                <a:cs typeface="Nunito Sans" pitchFamily="34" charset="-120"/>
              </a:rPr>
              <a:t> "Order 12345 is Shipped and expected to arrive in 2 days."</a:t>
            </a:r>
            <a:endParaRPr lang="en-US" sz="1600" dirty="0"/>
          </a:p>
        </p:txBody>
      </p:sp>
      <p:sp>
        <p:nvSpPr>
          <p:cNvPr id="8" name="Text 4">
            <a:extLst>
              <a:ext uri="{FF2B5EF4-FFF2-40B4-BE49-F238E27FC236}">
                <a16:creationId xmlns:a16="http://schemas.microsoft.com/office/drawing/2014/main" id="{CDC93FCF-6276-E912-9E32-01A2833F0446}"/>
              </a:ext>
            </a:extLst>
          </p:cNvPr>
          <p:cNvSpPr/>
          <p:nvPr/>
        </p:nvSpPr>
        <p:spPr>
          <a:xfrm>
            <a:off x="719784" y="3184225"/>
            <a:ext cx="2704207" cy="560189"/>
          </a:xfrm>
          <a:prstGeom prst="rect">
            <a:avLst/>
          </a:prstGeom>
          <a:noFill/>
          <a:ln/>
        </p:spPr>
        <p:txBody>
          <a:bodyPr wrap="square" lIns="0" tIns="0" rIns="0" bIns="0" rtlCol="0" anchor="t"/>
          <a:lstStyle/>
          <a:p>
            <a:pPr>
              <a:lnSpc>
                <a:spcPts val="2167"/>
              </a:lnSpc>
            </a:pPr>
            <a:r>
              <a:rPr lang="en-US" sz="1600" i="1" dirty="0">
                <a:solidFill>
                  <a:srgbClr val="000000"/>
                </a:solidFill>
                <a:ea typeface="Nunito Sans" pitchFamily="34" charset="-122"/>
                <a:cs typeface="Nunito Sans" pitchFamily="34" charset="-120"/>
              </a:rPr>
              <a:t>(RAG lookup from product-dataset.json)</a:t>
            </a:r>
            <a:endParaRPr lang="en-US" sz="1600" dirty="0"/>
          </a:p>
        </p:txBody>
      </p:sp>
      <p:pic>
        <p:nvPicPr>
          <p:cNvPr id="9" name="Image 2" descr="preencoded.png">
            <a:extLst>
              <a:ext uri="{FF2B5EF4-FFF2-40B4-BE49-F238E27FC236}">
                <a16:creationId xmlns:a16="http://schemas.microsoft.com/office/drawing/2014/main" id="{A6B2F95B-CF11-2C05-128F-3E85D6359F8A}"/>
              </a:ext>
            </a:extLst>
          </p:cNvPr>
          <p:cNvPicPr>
            <a:picLocks noChangeAspect="1"/>
          </p:cNvPicPr>
          <p:nvPr/>
        </p:nvPicPr>
        <p:blipFill>
          <a:blip r:embed="rId4"/>
          <a:stretch>
            <a:fillRect/>
          </a:stretch>
        </p:blipFill>
        <p:spPr>
          <a:xfrm>
            <a:off x="3797258" y="1119868"/>
            <a:ext cx="3063280" cy="2842419"/>
          </a:xfrm>
          <a:prstGeom prst="rect">
            <a:avLst/>
          </a:prstGeom>
        </p:spPr>
      </p:pic>
      <p:sp>
        <p:nvSpPr>
          <p:cNvPr id="10" name="Text 5">
            <a:extLst>
              <a:ext uri="{FF2B5EF4-FFF2-40B4-BE49-F238E27FC236}">
                <a16:creationId xmlns:a16="http://schemas.microsoft.com/office/drawing/2014/main" id="{46A024FE-3D7E-713D-C812-0BEE2B25020E}"/>
              </a:ext>
            </a:extLst>
          </p:cNvPr>
          <p:cNvSpPr/>
          <p:nvPr/>
        </p:nvSpPr>
        <p:spPr>
          <a:xfrm>
            <a:off x="3976745" y="1299354"/>
            <a:ext cx="2244626" cy="280492"/>
          </a:xfrm>
          <a:prstGeom prst="rect">
            <a:avLst/>
          </a:prstGeom>
          <a:noFill/>
          <a:ln/>
        </p:spPr>
        <p:txBody>
          <a:bodyPr wrap="none" lIns="0" tIns="0" rIns="0" bIns="0" rtlCol="0" anchor="t"/>
          <a:lstStyle/>
          <a:p>
            <a:pPr>
              <a:lnSpc>
                <a:spcPts val="2208"/>
              </a:lnSpc>
            </a:pPr>
            <a:r>
              <a:rPr lang="en-US" sz="2000" b="1" dirty="0">
                <a:solidFill>
                  <a:srgbClr val="000000"/>
                </a:solidFill>
                <a:ea typeface="Nunito Sans Bold" pitchFamily="34" charset="-122"/>
                <a:cs typeface="Nunito Sans Bold" pitchFamily="34" charset="-120"/>
              </a:rPr>
              <a:t>Product Information</a:t>
            </a:r>
            <a:endParaRPr lang="en-US" sz="2000" dirty="0"/>
          </a:p>
        </p:txBody>
      </p:sp>
      <p:sp>
        <p:nvSpPr>
          <p:cNvPr id="11" name="Text 6">
            <a:extLst>
              <a:ext uri="{FF2B5EF4-FFF2-40B4-BE49-F238E27FC236}">
                <a16:creationId xmlns:a16="http://schemas.microsoft.com/office/drawing/2014/main" id="{78E74F14-1623-0655-58C5-C5A99C2E4BA8}"/>
              </a:ext>
            </a:extLst>
          </p:cNvPr>
          <p:cNvSpPr/>
          <p:nvPr/>
        </p:nvSpPr>
        <p:spPr>
          <a:xfrm>
            <a:off x="3976745" y="1682140"/>
            <a:ext cx="2704307" cy="280094"/>
          </a:xfrm>
          <a:prstGeom prst="rect">
            <a:avLst/>
          </a:prstGeom>
          <a:noFill/>
          <a:ln/>
        </p:spPr>
        <p:txBody>
          <a:bodyPr wrap="none" lIns="0" tIns="0" rIns="0" bIns="0" rtlCol="0" anchor="t"/>
          <a:lstStyle/>
          <a:p>
            <a:pPr>
              <a:lnSpc>
                <a:spcPts val="2167"/>
              </a:lnSpc>
            </a:pPr>
            <a:r>
              <a:rPr lang="en-US" sz="1600" i="1" dirty="0">
                <a:solidFill>
                  <a:srgbClr val="000000"/>
                </a:solidFill>
                <a:ea typeface="Nunito Sans" pitchFamily="34" charset="-122"/>
                <a:cs typeface="Nunito Sans" pitchFamily="34" charset="-120"/>
              </a:rPr>
              <a:t>"Tell me about the Laptop Pro."</a:t>
            </a:r>
            <a:endParaRPr lang="en-US" sz="1600" dirty="0"/>
          </a:p>
        </p:txBody>
      </p:sp>
      <p:sp>
        <p:nvSpPr>
          <p:cNvPr id="12" name="Text 7">
            <a:extLst>
              <a:ext uri="{FF2B5EF4-FFF2-40B4-BE49-F238E27FC236}">
                <a16:creationId xmlns:a16="http://schemas.microsoft.com/office/drawing/2014/main" id="{A26B74AB-BD1C-F52D-C37C-150D9D40DA86}"/>
              </a:ext>
            </a:extLst>
          </p:cNvPr>
          <p:cNvSpPr/>
          <p:nvPr/>
        </p:nvSpPr>
        <p:spPr>
          <a:xfrm>
            <a:off x="3976745" y="2064529"/>
            <a:ext cx="2704307" cy="840283"/>
          </a:xfrm>
          <a:prstGeom prst="rect">
            <a:avLst/>
          </a:prstGeom>
          <a:noFill/>
          <a:ln/>
        </p:spPr>
        <p:txBody>
          <a:bodyPr wrap="square" lIns="0" tIns="0" rIns="0" bIns="0" rtlCol="0" anchor="t"/>
          <a:lstStyle/>
          <a:p>
            <a:pPr>
              <a:lnSpc>
                <a:spcPts val="2167"/>
              </a:lnSpc>
            </a:pPr>
            <a:r>
              <a:rPr lang="en-US" sz="1600" b="1" dirty="0">
                <a:solidFill>
                  <a:srgbClr val="000000"/>
                </a:solidFill>
                <a:ea typeface="Nunito Sans" pitchFamily="34" charset="-122"/>
                <a:cs typeface="Nunito Sans" pitchFamily="34" charset="-120"/>
              </a:rPr>
              <a:t>Bot:</a:t>
            </a:r>
            <a:r>
              <a:rPr lang="en-US" sz="1600" dirty="0">
                <a:solidFill>
                  <a:srgbClr val="000000"/>
                </a:solidFill>
                <a:ea typeface="Nunito Sans" pitchFamily="34" charset="-122"/>
                <a:cs typeface="Nunito Sans" pitchFamily="34" charset="-120"/>
              </a:rPr>
              <a:t> "The Laptop Pro features an Intel i9 processor, 32 GB RAM, and 1 TB SSD, priced at $1,499."</a:t>
            </a:r>
            <a:endParaRPr lang="en-US" sz="1600" dirty="0"/>
          </a:p>
        </p:txBody>
      </p:sp>
      <p:pic>
        <p:nvPicPr>
          <p:cNvPr id="13" name="Image 3" descr="preencoded.png">
            <a:extLst>
              <a:ext uri="{FF2B5EF4-FFF2-40B4-BE49-F238E27FC236}">
                <a16:creationId xmlns:a16="http://schemas.microsoft.com/office/drawing/2014/main" id="{D18A0FB0-EA2D-4FE0-1CC7-5BD7C24F3845}"/>
              </a:ext>
            </a:extLst>
          </p:cNvPr>
          <p:cNvPicPr>
            <a:picLocks noChangeAspect="1"/>
          </p:cNvPicPr>
          <p:nvPr/>
        </p:nvPicPr>
        <p:blipFill>
          <a:blip r:embed="rId5"/>
          <a:stretch>
            <a:fillRect/>
          </a:stretch>
        </p:blipFill>
        <p:spPr>
          <a:xfrm>
            <a:off x="672378" y="4241700"/>
            <a:ext cx="6297018" cy="1899841"/>
          </a:xfrm>
          <a:prstGeom prst="rect">
            <a:avLst/>
          </a:prstGeom>
        </p:spPr>
      </p:pic>
      <p:sp>
        <p:nvSpPr>
          <p:cNvPr id="14" name="Text 8">
            <a:extLst>
              <a:ext uri="{FF2B5EF4-FFF2-40B4-BE49-F238E27FC236}">
                <a16:creationId xmlns:a16="http://schemas.microsoft.com/office/drawing/2014/main" id="{64867B4E-85D7-6E47-BE69-2067354987AE}"/>
              </a:ext>
            </a:extLst>
          </p:cNvPr>
          <p:cNvSpPr/>
          <p:nvPr/>
        </p:nvSpPr>
        <p:spPr>
          <a:xfrm>
            <a:off x="743008" y="4312329"/>
            <a:ext cx="2244626" cy="280492"/>
          </a:xfrm>
          <a:prstGeom prst="rect">
            <a:avLst/>
          </a:prstGeom>
          <a:noFill/>
          <a:ln/>
        </p:spPr>
        <p:txBody>
          <a:bodyPr wrap="none" lIns="0" tIns="0" rIns="0" bIns="0" rtlCol="0" anchor="t"/>
          <a:lstStyle/>
          <a:p>
            <a:pPr>
              <a:lnSpc>
                <a:spcPts val="2208"/>
              </a:lnSpc>
            </a:pPr>
            <a:r>
              <a:rPr lang="en-US" sz="2000" b="1" dirty="0">
                <a:solidFill>
                  <a:srgbClr val="000000"/>
                </a:solidFill>
                <a:ea typeface="Nunito Sans Bold" pitchFamily="34" charset="-122"/>
                <a:cs typeface="Nunito Sans Bold" pitchFamily="34" charset="-120"/>
              </a:rPr>
              <a:t>Policy Questions</a:t>
            </a:r>
            <a:endParaRPr lang="en-US" sz="2000" dirty="0"/>
          </a:p>
        </p:txBody>
      </p:sp>
      <p:sp>
        <p:nvSpPr>
          <p:cNvPr id="15" name="Text 9">
            <a:extLst>
              <a:ext uri="{FF2B5EF4-FFF2-40B4-BE49-F238E27FC236}">
                <a16:creationId xmlns:a16="http://schemas.microsoft.com/office/drawing/2014/main" id="{E0A548AD-3847-F09C-DD1B-21391A89F434}"/>
              </a:ext>
            </a:extLst>
          </p:cNvPr>
          <p:cNvSpPr/>
          <p:nvPr/>
        </p:nvSpPr>
        <p:spPr>
          <a:xfrm>
            <a:off x="743008" y="4695116"/>
            <a:ext cx="5938044" cy="280094"/>
          </a:xfrm>
          <a:prstGeom prst="rect">
            <a:avLst/>
          </a:prstGeom>
          <a:noFill/>
          <a:ln/>
        </p:spPr>
        <p:txBody>
          <a:bodyPr wrap="none" lIns="0" tIns="0" rIns="0" bIns="0" rtlCol="0" anchor="t"/>
          <a:lstStyle/>
          <a:p>
            <a:pPr>
              <a:lnSpc>
                <a:spcPts val="2167"/>
              </a:lnSpc>
            </a:pPr>
            <a:r>
              <a:rPr lang="en-US" sz="1600" i="1" dirty="0">
                <a:solidFill>
                  <a:srgbClr val="000000"/>
                </a:solidFill>
                <a:ea typeface="Nunito Sans" pitchFamily="34" charset="-122"/>
                <a:cs typeface="Nunito Sans" pitchFamily="34" charset="-120"/>
              </a:rPr>
              <a:t>"What is your return policy?"</a:t>
            </a:r>
            <a:endParaRPr lang="en-US" sz="1600" dirty="0"/>
          </a:p>
        </p:txBody>
      </p:sp>
      <p:sp>
        <p:nvSpPr>
          <p:cNvPr id="16" name="Text 10">
            <a:extLst>
              <a:ext uri="{FF2B5EF4-FFF2-40B4-BE49-F238E27FC236}">
                <a16:creationId xmlns:a16="http://schemas.microsoft.com/office/drawing/2014/main" id="{0DF3C298-1AD7-4EA7-DEB8-D3D281635D10}"/>
              </a:ext>
            </a:extLst>
          </p:cNvPr>
          <p:cNvSpPr/>
          <p:nvPr/>
        </p:nvSpPr>
        <p:spPr>
          <a:xfrm>
            <a:off x="743008" y="5077505"/>
            <a:ext cx="5938044" cy="560189"/>
          </a:xfrm>
          <a:prstGeom prst="rect">
            <a:avLst/>
          </a:prstGeom>
          <a:noFill/>
          <a:ln/>
        </p:spPr>
        <p:txBody>
          <a:bodyPr wrap="square" lIns="0" tIns="0" rIns="0" bIns="0" rtlCol="0" anchor="t"/>
          <a:lstStyle/>
          <a:p>
            <a:pPr>
              <a:lnSpc>
                <a:spcPts val="2167"/>
              </a:lnSpc>
            </a:pPr>
            <a:r>
              <a:rPr lang="en-US" sz="1600" b="1" dirty="0">
                <a:solidFill>
                  <a:srgbClr val="000000"/>
                </a:solidFill>
                <a:ea typeface="Nunito Sans" pitchFamily="34" charset="-122"/>
                <a:cs typeface="Nunito Sans" pitchFamily="34" charset="-120"/>
              </a:rPr>
              <a:t>Bot:</a:t>
            </a:r>
            <a:r>
              <a:rPr lang="en-US" sz="1600" dirty="0">
                <a:solidFill>
                  <a:srgbClr val="000000"/>
                </a:solidFill>
                <a:ea typeface="Nunito Sans" pitchFamily="34" charset="-122"/>
                <a:cs typeface="Nunito Sans" pitchFamily="34" charset="-120"/>
              </a:rPr>
              <a:t> "You can return any item within 30 days of purchase for a full refund."</a:t>
            </a:r>
            <a:endParaRPr lang="en-US" sz="1600" dirty="0"/>
          </a:p>
        </p:txBody>
      </p:sp>
      <p:sp>
        <p:nvSpPr>
          <p:cNvPr id="17" name="Title 16">
            <a:extLst>
              <a:ext uri="{FF2B5EF4-FFF2-40B4-BE49-F238E27FC236}">
                <a16:creationId xmlns:a16="http://schemas.microsoft.com/office/drawing/2014/main" id="{E2E0E732-6914-5793-814E-5492CBCFBD4A}"/>
              </a:ext>
            </a:extLst>
          </p:cNvPr>
          <p:cNvSpPr>
            <a:spLocks noGrp="1"/>
          </p:cNvSpPr>
          <p:nvPr>
            <p:ph type="title"/>
          </p:nvPr>
        </p:nvSpPr>
        <p:spPr>
          <a:xfrm>
            <a:off x="661492" y="192667"/>
            <a:ext cx="6687118" cy="612775"/>
          </a:xfrm>
        </p:spPr>
        <p:txBody>
          <a:bodyPr>
            <a:normAutofit/>
          </a:bodyPr>
          <a:lstStyle/>
          <a:p>
            <a:r>
              <a:rPr lang="en-US" sz="3200" dirty="0">
                <a:solidFill>
                  <a:srgbClr val="161A3E"/>
                </a:solidFill>
                <a:latin typeface="+mn-lt"/>
                <a:ea typeface="Nunito Sans Bold" pitchFamily="34" charset="-122"/>
                <a:cs typeface="Nunito Sans Bold" pitchFamily="34" charset="-120"/>
              </a:rPr>
              <a:t>Live Demo Scenarios</a:t>
            </a:r>
            <a:endParaRPr lang="en-IN" sz="3200" dirty="0">
              <a:latin typeface="+mn-lt"/>
            </a:endParaRPr>
          </a:p>
        </p:txBody>
      </p:sp>
      <p:pic>
        <p:nvPicPr>
          <p:cNvPr id="18" name="Picture 17">
            <a:extLst>
              <a:ext uri="{FF2B5EF4-FFF2-40B4-BE49-F238E27FC236}">
                <a16:creationId xmlns:a16="http://schemas.microsoft.com/office/drawing/2014/main" id="{74BCDB26-F352-A365-7BD3-0B84AF543F8D}"/>
              </a:ext>
            </a:extLst>
          </p:cNvPr>
          <p:cNvPicPr>
            <a:picLocks noChangeAspect="1"/>
          </p:cNvPicPr>
          <p:nvPr/>
        </p:nvPicPr>
        <p:blipFill>
          <a:blip r:embed="rId6"/>
          <a:stretch>
            <a:fillRect/>
          </a:stretch>
        </p:blipFill>
        <p:spPr>
          <a:xfrm>
            <a:off x="6941248" y="2704372"/>
            <a:ext cx="5228450" cy="1397621"/>
          </a:xfrm>
          <a:prstGeom prst="rect">
            <a:avLst/>
          </a:prstGeom>
        </p:spPr>
      </p:pic>
    </p:spTree>
    <p:extLst>
      <p:ext uri="{BB962C8B-B14F-4D97-AF65-F5344CB8AC3E}">
        <p14:creationId xmlns:p14="http://schemas.microsoft.com/office/powerpoint/2010/main" val="3949226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ABA21-C195-538F-9AE6-1B7B089040D6}"/>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C8D95C5A-2F53-8600-5756-29A396CACC17}"/>
              </a:ext>
            </a:extLst>
          </p:cNvPr>
          <p:cNvSpPr>
            <a:spLocks noGrp="1"/>
          </p:cNvSpPr>
          <p:nvPr>
            <p:ph type="title"/>
          </p:nvPr>
        </p:nvSpPr>
        <p:spPr>
          <a:xfrm>
            <a:off x="515599" y="168237"/>
            <a:ext cx="10834234" cy="612775"/>
          </a:xfrm>
        </p:spPr>
        <p:txBody>
          <a:bodyPr>
            <a:normAutofit/>
          </a:bodyPr>
          <a:lstStyle/>
          <a:p>
            <a:r>
              <a:rPr lang="en-US" sz="3200" dirty="0">
                <a:solidFill>
                  <a:srgbClr val="161A3E"/>
                </a:solidFill>
                <a:latin typeface="+mn-lt"/>
                <a:ea typeface="Nunito Sans Bold" pitchFamily="34" charset="-122"/>
                <a:cs typeface="Nunito Sans Bold" pitchFamily="34" charset="-120"/>
              </a:rPr>
              <a:t>Screens</a:t>
            </a:r>
            <a:endParaRPr lang="en-IN" sz="3200" dirty="0">
              <a:latin typeface="+mn-lt"/>
            </a:endParaRPr>
          </a:p>
        </p:txBody>
      </p:sp>
      <p:pic>
        <p:nvPicPr>
          <p:cNvPr id="18" name="Picture 17">
            <a:extLst>
              <a:ext uri="{FF2B5EF4-FFF2-40B4-BE49-F238E27FC236}">
                <a16:creationId xmlns:a16="http://schemas.microsoft.com/office/drawing/2014/main" id="{F720F28A-6582-511A-DA56-DAFD69620FDD}"/>
              </a:ext>
            </a:extLst>
          </p:cNvPr>
          <p:cNvPicPr>
            <a:picLocks noChangeAspect="1"/>
          </p:cNvPicPr>
          <p:nvPr/>
        </p:nvPicPr>
        <p:blipFill>
          <a:blip r:embed="rId3"/>
          <a:stretch>
            <a:fillRect/>
          </a:stretch>
        </p:blipFill>
        <p:spPr>
          <a:xfrm>
            <a:off x="240277" y="695185"/>
            <a:ext cx="4157551" cy="5070328"/>
          </a:xfrm>
          <a:prstGeom prst="rect">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pic>
        <p:nvPicPr>
          <p:cNvPr id="20" name="Picture 19">
            <a:extLst>
              <a:ext uri="{FF2B5EF4-FFF2-40B4-BE49-F238E27FC236}">
                <a16:creationId xmlns:a16="http://schemas.microsoft.com/office/drawing/2014/main" id="{6E08997D-B4BA-EF29-01F8-2BA0140F623A}"/>
              </a:ext>
            </a:extLst>
          </p:cNvPr>
          <p:cNvPicPr>
            <a:picLocks noChangeAspect="1"/>
          </p:cNvPicPr>
          <p:nvPr/>
        </p:nvPicPr>
        <p:blipFill>
          <a:blip r:embed="rId4"/>
          <a:stretch>
            <a:fillRect/>
          </a:stretch>
        </p:blipFill>
        <p:spPr>
          <a:xfrm>
            <a:off x="4474258" y="695185"/>
            <a:ext cx="3563251" cy="5016675"/>
          </a:xfrm>
          <a:prstGeom prst="rect">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pic>
        <p:nvPicPr>
          <p:cNvPr id="22" name="Picture 21">
            <a:extLst>
              <a:ext uri="{FF2B5EF4-FFF2-40B4-BE49-F238E27FC236}">
                <a16:creationId xmlns:a16="http://schemas.microsoft.com/office/drawing/2014/main" id="{8EDE20E7-9258-78FF-9CD2-72066221C848}"/>
              </a:ext>
            </a:extLst>
          </p:cNvPr>
          <p:cNvPicPr>
            <a:picLocks noChangeAspect="1"/>
          </p:cNvPicPr>
          <p:nvPr/>
        </p:nvPicPr>
        <p:blipFill>
          <a:blip r:embed="rId5"/>
          <a:stretch>
            <a:fillRect/>
          </a:stretch>
        </p:blipFill>
        <p:spPr>
          <a:xfrm>
            <a:off x="8388472" y="695185"/>
            <a:ext cx="3563250" cy="4994469"/>
          </a:xfrm>
          <a:prstGeom prst="rect">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spTree>
    <p:extLst>
      <p:ext uri="{BB962C8B-B14F-4D97-AF65-F5344CB8AC3E}">
        <p14:creationId xmlns:p14="http://schemas.microsoft.com/office/powerpoint/2010/main" val="2204002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780753"/>
            <a:ext cx="4725492" cy="590649"/>
          </a:xfrm>
          <a:prstGeom prst="rect">
            <a:avLst/>
          </a:prstGeom>
          <a:noFill/>
          <a:ln/>
        </p:spPr>
        <p:txBody>
          <a:bodyPr wrap="none" lIns="0" tIns="0" rIns="0" bIns="0" rtlCol="0" anchor="t"/>
          <a:lstStyle/>
          <a:p>
            <a:pPr>
              <a:lnSpc>
                <a:spcPts val="4625"/>
              </a:lnSpc>
            </a:pPr>
            <a:endParaRPr lang="en-US" sz="3708" dirty="0"/>
          </a:p>
        </p:txBody>
      </p:sp>
      <p:sp>
        <p:nvSpPr>
          <p:cNvPr id="3" name="Text 1"/>
          <p:cNvSpPr/>
          <p:nvPr/>
        </p:nvSpPr>
        <p:spPr>
          <a:xfrm>
            <a:off x="661492" y="1451995"/>
            <a:ext cx="2540000" cy="623689"/>
          </a:xfrm>
          <a:prstGeom prst="rect">
            <a:avLst/>
          </a:prstGeom>
          <a:noFill/>
          <a:ln/>
        </p:spPr>
        <p:txBody>
          <a:bodyPr wrap="none" lIns="0" tIns="0" rIns="0" bIns="0" rtlCol="0" anchor="t"/>
          <a:lstStyle/>
          <a:p>
            <a:pPr algn="ctr">
              <a:lnSpc>
                <a:spcPts val="4875"/>
              </a:lnSpc>
            </a:pPr>
            <a:r>
              <a:rPr lang="en-US" sz="5400" b="1" dirty="0">
                <a:solidFill>
                  <a:srgbClr val="000000"/>
                </a:solidFill>
                <a:ea typeface="Nunito Sans Bold" pitchFamily="34" charset="-122"/>
                <a:cs typeface="Nunito Sans Bold" pitchFamily="34" charset="-120"/>
              </a:rPr>
              <a:t>2-4s</a:t>
            </a:r>
            <a:endParaRPr lang="en-US" sz="5400" dirty="0"/>
          </a:p>
        </p:txBody>
      </p:sp>
      <p:sp>
        <p:nvSpPr>
          <p:cNvPr id="4" name="Text 2"/>
          <p:cNvSpPr/>
          <p:nvPr/>
        </p:nvSpPr>
        <p:spPr>
          <a:xfrm>
            <a:off x="750095" y="2311825"/>
            <a:ext cx="2362696" cy="295275"/>
          </a:xfrm>
          <a:prstGeom prst="rect">
            <a:avLst/>
          </a:prstGeom>
          <a:noFill/>
          <a:ln/>
        </p:spPr>
        <p:txBody>
          <a:bodyPr wrap="none" lIns="0" tIns="0" rIns="0" bIns="0" rtlCol="0" anchor="t"/>
          <a:lstStyle/>
          <a:p>
            <a:pPr algn="ctr">
              <a:lnSpc>
                <a:spcPts val="2292"/>
              </a:lnSpc>
            </a:pPr>
            <a:r>
              <a:rPr lang="en-US" sz="2000" b="1" dirty="0">
                <a:solidFill>
                  <a:srgbClr val="000000"/>
                </a:solidFill>
                <a:ea typeface="Nunito Sans Bold" pitchFamily="34" charset="-122"/>
                <a:cs typeface="Nunito Sans Bold" pitchFamily="34" charset="-120"/>
              </a:rPr>
              <a:t>End-to-End Latency</a:t>
            </a:r>
            <a:endParaRPr lang="en-US" sz="2000" dirty="0"/>
          </a:p>
        </p:txBody>
      </p:sp>
      <p:sp>
        <p:nvSpPr>
          <p:cNvPr id="5" name="Text 3"/>
          <p:cNvSpPr/>
          <p:nvPr/>
        </p:nvSpPr>
        <p:spPr>
          <a:xfrm>
            <a:off x="661492" y="2720508"/>
            <a:ext cx="2540000" cy="302419"/>
          </a:xfrm>
          <a:prstGeom prst="rect">
            <a:avLst/>
          </a:prstGeom>
          <a:noFill/>
          <a:ln/>
        </p:spPr>
        <p:txBody>
          <a:bodyPr wrap="none" lIns="0" tIns="0" rIns="0" bIns="0" rtlCol="0" anchor="t"/>
          <a:lstStyle/>
          <a:p>
            <a:pPr algn="ctr">
              <a:lnSpc>
                <a:spcPts val="2375"/>
              </a:lnSpc>
            </a:pPr>
            <a:r>
              <a:rPr lang="en-US" sz="1600" dirty="0">
                <a:solidFill>
                  <a:srgbClr val="000000"/>
                </a:solidFill>
                <a:ea typeface="Nunito Sans" pitchFamily="34" charset="-122"/>
                <a:cs typeface="Nunito Sans" pitchFamily="34" charset="-120"/>
              </a:rPr>
              <a:t>CPU baseline</a:t>
            </a:r>
            <a:endParaRPr lang="en-US" sz="1600" dirty="0"/>
          </a:p>
        </p:txBody>
      </p:sp>
      <p:sp>
        <p:nvSpPr>
          <p:cNvPr id="6" name="Text 4"/>
          <p:cNvSpPr/>
          <p:nvPr/>
        </p:nvSpPr>
        <p:spPr>
          <a:xfrm>
            <a:off x="3437732" y="1451995"/>
            <a:ext cx="2540099" cy="623689"/>
          </a:xfrm>
          <a:prstGeom prst="rect">
            <a:avLst/>
          </a:prstGeom>
          <a:noFill/>
          <a:ln/>
        </p:spPr>
        <p:txBody>
          <a:bodyPr wrap="none" lIns="0" tIns="0" rIns="0" bIns="0" rtlCol="0" anchor="t"/>
          <a:lstStyle/>
          <a:p>
            <a:pPr algn="ctr">
              <a:lnSpc>
                <a:spcPts val="4875"/>
              </a:lnSpc>
            </a:pPr>
            <a:r>
              <a:rPr lang="en-US" sz="5400" b="1" dirty="0">
                <a:solidFill>
                  <a:srgbClr val="000000"/>
                </a:solidFill>
                <a:ea typeface="Nunito Sans Bold" pitchFamily="34" charset="-122"/>
                <a:cs typeface="Nunito Sans Bold" pitchFamily="34" charset="-120"/>
              </a:rPr>
              <a:t>~95%</a:t>
            </a:r>
            <a:endParaRPr lang="en-US" sz="5400" dirty="0"/>
          </a:p>
        </p:txBody>
      </p:sp>
      <p:sp>
        <p:nvSpPr>
          <p:cNvPr id="7" name="Text 5"/>
          <p:cNvSpPr/>
          <p:nvPr/>
        </p:nvSpPr>
        <p:spPr>
          <a:xfrm>
            <a:off x="3526433" y="2311825"/>
            <a:ext cx="2362696" cy="295275"/>
          </a:xfrm>
          <a:prstGeom prst="rect">
            <a:avLst/>
          </a:prstGeom>
          <a:noFill/>
          <a:ln/>
        </p:spPr>
        <p:txBody>
          <a:bodyPr wrap="none" lIns="0" tIns="0" rIns="0" bIns="0" rtlCol="0" anchor="t"/>
          <a:lstStyle/>
          <a:p>
            <a:pPr algn="ctr">
              <a:lnSpc>
                <a:spcPts val="2292"/>
              </a:lnSpc>
            </a:pPr>
            <a:r>
              <a:rPr lang="en-US" sz="2000" b="1" dirty="0">
                <a:solidFill>
                  <a:srgbClr val="000000"/>
                </a:solidFill>
                <a:ea typeface="Nunito Sans Bold" pitchFamily="34" charset="-122"/>
                <a:cs typeface="Nunito Sans Bold" pitchFamily="34" charset="-120"/>
              </a:rPr>
              <a:t>STT Accuracy</a:t>
            </a:r>
            <a:endParaRPr lang="en-US" sz="2000" dirty="0"/>
          </a:p>
        </p:txBody>
      </p:sp>
      <p:sp>
        <p:nvSpPr>
          <p:cNvPr id="8" name="Text 6"/>
          <p:cNvSpPr/>
          <p:nvPr/>
        </p:nvSpPr>
        <p:spPr>
          <a:xfrm>
            <a:off x="3437732" y="2720508"/>
            <a:ext cx="2540099" cy="604838"/>
          </a:xfrm>
          <a:prstGeom prst="rect">
            <a:avLst/>
          </a:prstGeom>
          <a:noFill/>
          <a:ln/>
        </p:spPr>
        <p:txBody>
          <a:bodyPr wrap="square" lIns="0" tIns="0" rIns="0" bIns="0" rtlCol="0" anchor="t"/>
          <a:lstStyle/>
          <a:p>
            <a:pPr algn="ctr">
              <a:lnSpc>
                <a:spcPts val="2375"/>
              </a:lnSpc>
            </a:pPr>
            <a:r>
              <a:rPr lang="en-US" sz="1600" dirty="0">
                <a:solidFill>
                  <a:srgbClr val="000000"/>
                </a:solidFill>
                <a:ea typeface="Nunito Sans" pitchFamily="34" charset="-122"/>
                <a:cs typeface="Nunito Sans" pitchFamily="34" charset="-120"/>
              </a:rPr>
              <a:t>Tiny/base hybrid on clear speech</a:t>
            </a:r>
            <a:endParaRPr lang="en-US" sz="1600" dirty="0"/>
          </a:p>
        </p:txBody>
      </p:sp>
      <p:sp>
        <p:nvSpPr>
          <p:cNvPr id="9" name="Text 7"/>
          <p:cNvSpPr/>
          <p:nvPr/>
        </p:nvSpPr>
        <p:spPr>
          <a:xfrm>
            <a:off x="6214071" y="1451995"/>
            <a:ext cx="2540099" cy="623689"/>
          </a:xfrm>
          <a:prstGeom prst="rect">
            <a:avLst/>
          </a:prstGeom>
          <a:noFill/>
          <a:ln/>
        </p:spPr>
        <p:txBody>
          <a:bodyPr wrap="none" lIns="0" tIns="0" rIns="0" bIns="0" rtlCol="0" anchor="t"/>
          <a:lstStyle/>
          <a:p>
            <a:pPr algn="ctr">
              <a:lnSpc>
                <a:spcPts val="4875"/>
              </a:lnSpc>
            </a:pPr>
            <a:r>
              <a:rPr lang="en-US" sz="5400" b="1" dirty="0">
                <a:solidFill>
                  <a:srgbClr val="000000"/>
                </a:solidFill>
                <a:ea typeface="Nunito Sans Bold" pitchFamily="34" charset="-122"/>
                <a:cs typeface="Nunito Sans Bold" pitchFamily="34" charset="-120"/>
              </a:rPr>
              <a:t>1-2s</a:t>
            </a:r>
            <a:endParaRPr lang="en-US" sz="5400" dirty="0"/>
          </a:p>
        </p:txBody>
      </p:sp>
      <p:sp>
        <p:nvSpPr>
          <p:cNvPr id="10" name="Text 8"/>
          <p:cNvSpPr/>
          <p:nvPr/>
        </p:nvSpPr>
        <p:spPr>
          <a:xfrm>
            <a:off x="6302772" y="2311825"/>
            <a:ext cx="2362696" cy="295275"/>
          </a:xfrm>
          <a:prstGeom prst="rect">
            <a:avLst/>
          </a:prstGeom>
          <a:noFill/>
          <a:ln/>
        </p:spPr>
        <p:txBody>
          <a:bodyPr wrap="none" lIns="0" tIns="0" rIns="0" bIns="0" rtlCol="0" anchor="t"/>
          <a:lstStyle/>
          <a:p>
            <a:pPr algn="ctr">
              <a:lnSpc>
                <a:spcPts val="2292"/>
              </a:lnSpc>
            </a:pPr>
            <a:r>
              <a:rPr lang="en-US" sz="2000" b="1" dirty="0">
                <a:solidFill>
                  <a:srgbClr val="000000"/>
                </a:solidFill>
                <a:ea typeface="Nunito Sans Bold" pitchFamily="34" charset="-122"/>
                <a:cs typeface="Nunito Sans Bold" pitchFamily="34" charset="-120"/>
              </a:rPr>
              <a:t>LLM Response Time</a:t>
            </a:r>
            <a:endParaRPr lang="en-US" sz="2000" dirty="0"/>
          </a:p>
        </p:txBody>
      </p:sp>
      <p:sp>
        <p:nvSpPr>
          <p:cNvPr id="11" name="Text 9"/>
          <p:cNvSpPr/>
          <p:nvPr/>
        </p:nvSpPr>
        <p:spPr>
          <a:xfrm>
            <a:off x="6214071" y="2720508"/>
            <a:ext cx="2540099" cy="302419"/>
          </a:xfrm>
          <a:prstGeom prst="rect">
            <a:avLst/>
          </a:prstGeom>
          <a:noFill/>
          <a:ln/>
        </p:spPr>
        <p:txBody>
          <a:bodyPr wrap="none" lIns="0" tIns="0" rIns="0" bIns="0" rtlCol="0" anchor="t"/>
          <a:lstStyle/>
          <a:p>
            <a:pPr algn="ctr">
              <a:lnSpc>
                <a:spcPts val="2375"/>
              </a:lnSpc>
            </a:pPr>
            <a:r>
              <a:rPr lang="en-US" sz="1600" dirty="0">
                <a:solidFill>
                  <a:srgbClr val="000000"/>
                </a:solidFill>
                <a:ea typeface="Nunito Sans" pitchFamily="34" charset="-122"/>
                <a:cs typeface="Nunito Sans" pitchFamily="34" charset="-120"/>
              </a:rPr>
              <a:t>llama3.2:1b inference</a:t>
            </a:r>
            <a:endParaRPr lang="en-US" sz="1600" dirty="0"/>
          </a:p>
        </p:txBody>
      </p:sp>
      <p:sp>
        <p:nvSpPr>
          <p:cNvPr id="12" name="Text 10"/>
          <p:cNvSpPr/>
          <p:nvPr/>
        </p:nvSpPr>
        <p:spPr>
          <a:xfrm>
            <a:off x="8990410" y="1451995"/>
            <a:ext cx="2540099" cy="623689"/>
          </a:xfrm>
          <a:prstGeom prst="rect">
            <a:avLst/>
          </a:prstGeom>
          <a:noFill/>
          <a:ln/>
        </p:spPr>
        <p:txBody>
          <a:bodyPr wrap="none" lIns="0" tIns="0" rIns="0" bIns="0" rtlCol="0" anchor="t"/>
          <a:lstStyle/>
          <a:p>
            <a:pPr algn="ctr">
              <a:lnSpc>
                <a:spcPts val="4875"/>
              </a:lnSpc>
            </a:pPr>
            <a:r>
              <a:rPr lang="en-US" sz="5400" b="1" dirty="0">
                <a:solidFill>
                  <a:srgbClr val="000000"/>
                </a:solidFill>
                <a:ea typeface="Nunito Sans Bold" pitchFamily="34" charset="-122"/>
                <a:cs typeface="Nunito Sans Bold" pitchFamily="34" charset="-120"/>
              </a:rPr>
              <a:t>Stable</a:t>
            </a:r>
            <a:endParaRPr lang="en-US" sz="5400" dirty="0"/>
          </a:p>
        </p:txBody>
      </p:sp>
      <p:sp>
        <p:nvSpPr>
          <p:cNvPr id="13" name="Text 11"/>
          <p:cNvSpPr/>
          <p:nvPr/>
        </p:nvSpPr>
        <p:spPr>
          <a:xfrm>
            <a:off x="9079111" y="2311825"/>
            <a:ext cx="2362696" cy="295275"/>
          </a:xfrm>
          <a:prstGeom prst="rect">
            <a:avLst/>
          </a:prstGeom>
          <a:noFill/>
          <a:ln/>
        </p:spPr>
        <p:txBody>
          <a:bodyPr wrap="none" lIns="0" tIns="0" rIns="0" bIns="0" rtlCol="0" anchor="t"/>
          <a:lstStyle/>
          <a:p>
            <a:pPr algn="ctr">
              <a:lnSpc>
                <a:spcPts val="2292"/>
              </a:lnSpc>
            </a:pPr>
            <a:r>
              <a:rPr lang="en-US" sz="2000" b="1" dirty="0">
                <a:solidFill>
                  <a:srgbClr val="000000"/>
                </a:solidFill>
                <a:ea typeface="Nunito Sans Bold" pitchFamily="34" charset="-122"/>
                <a:cs typeface="Nunito Sans Bold" pitchFamily="34" charset="-120"/>
              </a:rPr>
              <a:t>System Uptime</a:t>
            </a:r>
            <a:endParaRPr lang="en-US" sz="2000" dirty="0"/>
          </a:p>
        </p:txBody>
      </p:sp>
      <p:sp>
        <p:nvSpPr>
          <p:cNvPr id="14" name="Text 12"/>
          <p:cNvSpPr/>
          <p:nvPr/>
        </p:nvSpPr>
        <p:spPr>
          <a:xfrm>
            <a:off x="8990410" y="2720508"/>
            <a:ext cx="2540099" cy="302419"/>
          </a:xfrm>
          <a:prstGeom prst="rect">
            <a:avLst/>
          </a:prstGeom>
          <a:noFill/>
          <a:ln/>
        </p:spPr>
        <p:txBody>
          <a:bodyPr wrap="none" lIns="0" tIns="0" rIns="0" bIns="0" rtlCol="0" anchor="t"/>
          <a:lstStyle/>
          <a:p>
            <a:pPr algn="ctr">
              <a:lnSpc>
                <a:spcPts val="2375"/>
              </a:lnSpc>
            </a:pPr>
            <a:r>
              <a:rPr lang="en-US" sz="1600" dirty="0">
                <a:solidFill>
                  <a:srgbClr val="000000"/>
                </a:solidFill>
                <a:ea typeface="Nunito Sans" pitchFamily="34" charset="-122"/>
                <a:cs typeface="Nunito Sans" pitchFamily="34" charset="-120"/>
              </a:rPr>
              <a:t>During testing</a:t>
            </a:r>
            <a:endParaRPr lang="en-US" sz="1600" dirty="0"/>
          </a:p>
        </p:txBody>
      </p:sp>
      <p:sp>
        <p:nvSpPr>
          <p:cNvPr id="15" name="Text 13"/>
          <p:cNvSpPr/>
          <p:nvPr/>
        </p:nvSpPr>
        <p:spPr>
          <a:xfrm>
            <a:off x="661492" y="3726982"/>
            <a:ext cx="3136007" cy="295275"/>
          </a:xfrm>
          <a:prstGeom prst="rect">
            <a:avLst/>
          </a:prstGeom>
          <a:noFill/>
          <a:ln/>
        </p:spPr>
        <p:txBody>
          <a:bodyPr wrap="none" lIns="0" tIns="0" rIns="0" bIns="0" rtlCol="0" anchor="t"/>
          <a:lstStyle/>
          <a:p>
            <a:pPr>
              <a:lnSpc>
                <a:spcPts val="2292"/>
              </a:lnSpc>
            </a:pPr>
            <a:r>
              <a:rPr lang="en-US" sz="2000" b="1" dirty="0">
                <a:solidFill>
                  <a:srgbClr val="161A3E"/>
                </a:solidFill>
                <a:ea typeface="Nunito Sans Bold" pitchFamily="34" charset="-122"/>
                <a:cs typeface="Nunito Sans Bold" pitchFamily="34" charset="-120"/>
              </a:rPr>
              <a:t>Technology Stack Highlights</a:t>
            </a:r>
            <a:endParaRPr lang="en-US" sz="2000" dirty="0"/>
          </a:p>
        </p:txBody>
      </p:sp>
      <p:sp>
        <p:nvSpPr>
          <p:cNvPr id="16" name="Text 14"/>
          <p:cNvSpPr/>
          <p:nvPr/>
        </p:nvSpPr>
        <p:spPr>
          <a:xfrm>
            <a:off x="661492" y="4211270"/>
            <a:ext cx="5203924" cy="1407914"/>
          </a:xfrm>
          <a:prstGeom prst="rect">
            <a:avLst/>
          </a:prstGeom>
          <a:noFill/>
          <a:ln/>
        </p:spPr>
        <p:txBody>
          <a:bodyPr wrap="square" lIns="0" tIns="0" rIns="0" bIns="0" rtlCol="0" anchor="t"/>
          <a:lstStyle/>
          <a:p>
            <a:pPr marL="285739" indent="-285739">
              <a:lnSpc>
                <a:spcPts val="2375"/>
              </a:lnSpc>
              <a:buSzPct val="100000"/>
              <a:buChar char="•"/>
            </a:pPr>
            <a:r>
              <a:rPr lang="en-US" sz="1600" dirty="0">
                <a:solidFill>
                  <a:srgbClr val="000000"/>
                </a:solidFill>
                <a:ea typeface="Nunito Sans" pitchFamily="34" charset="-122"/>
                <a:cs typeface="Nunito Sans" pitchFamily="34" charset="-120"/>
              </a:rPr>
              <a:t>faster-whisper 1.2.1 hybrid (tiny/base)</a:t>
            </a:r>
            <a:endParaRPr lang="en-US" sz="1600" dirty="0"/>
          </a:p>
          <a:p>
            <a:pPr marL="285739" indent="-285739">
              <a:lnSpc>
                <a:spcPts val="2375"/>
              </a:lnSpc>
              <a:buSzPct val="100000"/>
              <a:buChar char="•"/>
            </a:pPr>
            <a:r>
              <a:rPr lang="en-US" sz="1600" dirty="0">
                <a:solidFill>
                  <a:srgbClr val="000000"/>
                </a:solidFill>
                <a:ea typeface="Nunito Sans" pitchFamily="34" charset="-122"/>
                <a:cs typeface="Nunito Sans" pitchFamily="34" charset="-120"/>
              </a:rPr>
              <a:t>Ollama + llama3.2:1b (local inference)</a:t>
            </a:r>
            <a:endParaRPr lang="en-US" sz="1600" dirty="0"/>
          </a:p>
          <a:p>
            <a:pPr marL="285739" indent="-285739">
              <a:lnSpc>
                <a:spcPts val="2375"/>
              </a:lnSpc>
              <a:buSzPct val="100000"/>
              <a:buChar char="•"/>
            </a:pPr>
            <a:r>
              <a:rPr lang="en-US" sz="1600" dirty="0">
                <a:solidFill>
                  <a:srgbClr val="000000"/>
                </a:solidFill>
                <a:ea typeface="Nunito Sans" pitchFamily="34" charset="-122"/>
                <a:cs typeface="Nunito Sans" pitchFamily="34" charset="-120"/>
              </a:rPr>
              <a:t>edge-tts + PyAV (async synthesis)</a:t>
            </a:r>
            <a:endParaRPr lang="en-US" sz="1600" dirty="0"/>
          </a:p>
          <a:p>
            <a:pPr marL="285739" indent="-285739">
              <a:lnSpc>
                <a:spcPts val="2375"/>
              </a:lnSpc>
              <a:buSzPct val="100000"/>
              <a:buChar char="•"/>
            </a:pPr>
            <a:r>
              <a:rPr lang="en-US" sz="1600" dirty="0">
                <a:solidFill>
                  <a:srgbClr val="000000"/>
                </a:solidFill>
                <a:ea typeface="Nunito Sans" pitchFamily="34" charset="-122"/>
                <a:cs typeface="Nunito Sans" pitchFamily="34" charset="-120"/>
              </a:rPr>
              <a:t>FastAPI backend with async processing</a:t>
            </a:r>
            <a:endParaRPr lang="en-US" sz="1600" dirty="0"/>
          </a:p>
        </p:txBody>
      </p:sp>
      <p:sp>
        <p:nvSpPr>
          <p:cNvPr id="17" name="Text 15"/>
          <p:cNvSpPr/>
          <p:nvPr/>
        </p:nvSpPr>
        <p:spPr>
          <a:xfrm>
            <a:off x="6332934" y="3726982"/>
            <a:ext cx="3084017" cy="295275"/>
          </a:xfrm>
          <a:prstGeom prst="rect">
            <a:avLst/>
          </a:prstGeom>
          <a:noFill/>
          <a:ln/>
        </p:spPr>
        <p:txBody>
          <a:bodyPr wrap="none" lIns="0" tIns="0" rIns="0" bIns="0" rtlCol="0" anchor="t"/>
          <a:lstStyle/>
          <a:p>
            <a:pPr>
              <a:lnSpc>
                <a:spcPts val="2292"/>
              </a:lnSpc>
            </a:pPr>
            <a:r>
              <a:rPr lang="en-US" sz="2000" b="1" dirty="0">
                <a:solidFill>
                  <a:srgbClr val="161A3E"/>
                </a:solidFill>
                <a:ea typeface="Nunito Sans Bold" pitchFamily="34" charset="-122"/>
                <a:cs typeface="Nunito Sans Bold" pitchFamily="34" charset="-120"/>
              </a:rPr>
              <a:t>Performance Characteristics</a:t>
            </a:r>
            <a:endParaRPr lang="en-US" sz="2000" dirty="0"/>
          </a:p>
        </p:txBody>
      </p:sp>
      <p:sp>
        <p:nvSpPr>
          <p:cNvPr id="18" name="Text 16"/>
          <p:cNvSpPr/>
          <p:nvPr/>
        </p:nvSpPr>
        <p:spPr>
          <a:xfrm>
            <a:off x="6332935" y="4211270"/>
            <a:ext cx="5203924" cy="1407914"/>
          </a:xfrm>
          <a:prstGeom prst="rect">
            <a:avLst/>
          </a:prstGeom>
          <a:noFill/>
          <a:ln/>
        </p:spPr>
        <p:txBody>
          <a:bodyPr wrap="square" lIns="0" tIns="0" rIns="0" bIns="0" rtlCol="0" anchor="t"/>
          <a:lstStyle/>
          <a:p>
            <a:pPr marL="285739" indent="-285739">
              <a:lnSpc>
                <a:spcPts val="2375"/>
              </a:lnSpc>
              <a:buSzPct val="100000"/>
              <a:buChar char="•"/>
            </a:pPr>
            <a:r>
              <a:rPr lang="en-US" sz="1600" dirty="0">
                <a:solidFill>
                  <a:srgbClr val="000000"/>
                </a:solidFill>
                <a:ea typeface="Nunito Sans" pitchFamily="34" charset="-122"/>
                <a:cs typeface="Nunito Sans" pitchFamily="34" charset="-120"/>
              </a:rPr>
              <a:t>CPU-only optimization</a:t>
            </a:r>
            <a:endParaRPr lang="en-US" sz="1600" dirty="0"/>
          </a:p>
          <a:p>
            <a:pPr marL="285739" indent="-285739">
              <a:lnSpc>
                <a:spcPts val="2375"/>
              </a:lnSpc>
              <a:buSzPct val="100000"/>
              <a:buChar char="•"/>
            </a:pPr>
            <a:r>
              <a:rPr lang="en-US" sz="1600" dirty="0">
                <a:solidFill>
                  <a:srgbClr val="000000"/>
                </a:solidFill>
                <a:ea typeface="Nunito Sans" pitchFamily="34" charset="-122"/>
                <a:cs typeface="Nunito Sans" pitchFamily="34" charset="-120"/>
              </a:rPr>
              <a:t>In-memory processing pipeline</a:t>
            </a:r>
            <a:endParaRPr lang="en-US" sz="1600" dirty="0"/>
          </a:p>
          <a:p>
            <a:pPr marL="285739" indent="-285739">
              <a:lnSpc>
                <a:spcPts val="2375"/>
              </a:lnSpc>
              <a:buSzPct val="100000"/>
              <a:buChar char="•"/>
            </a:pPr>
            <a:r>
              <a:rPr lang="en-US" sz="1600" dirty="0">
                <a:solidFill>
                  <a:srgbClr val="000000"/>
                </a:solidFill>
                <a:ea typeface="Nunito Sans" pitchFamily="34" charset="-122"/>
                <a:cs typeface="Nunito Sans" pitchFamily="34" charset="-120"/>
              </a:rPr>
              <a:t>Real-time streaming via WebRTC / LiveKit</a:t>
            </a:r>
            <a:endParaRPr lang="en-US" sz="1600" dirty="0"/>
          </a:p>
          <a:p>
            <a:pPr marL="285739" indent="-285739">
              <a:lnSpc>
                <a:spcPts val="2375"/>
              </a:lnSpc>
              <a:buSzPct val="100000"/>
              <a:buChar char="•"/>
            </a:pPr>
            <a:r>
              <a:rPr lang="en-US" sz="1600" dirty="0">
                <a:solidFill>
                  <a:srgbClr val="000000"/>
                </a:solidFill>
                <a:ea typeface="Nunito Sans" pitchFamily="34" charset="-122"/>
                <a:cs typeface="Nunito Sans" pitchFamily="34" charset="-120"/>
              </a:rPr>
              <a:t>Local deployment with async service handling</a:t>
            </a:r>
            <a:endParaRPr lang="en-US" sz="1600" dirty="0"/>
          </a:p>
        </p:txBody>
      </p:sp>
      <p:sp>
        <p:nvSpPr>
          <p:cNvPr id="19" name="Title 18">
            <a:extLst>
              <a:ext uri="{FF2B5EF4-FFF2-40B4-BE49-F238E27FC236}">
                <a16:creationId xmlns:a16="http://schemas.microsoft.com/office/drawing/2014/main" id="{ECDDAC77-6EFB-2B4C-4BA8-B10BEA1E5B36}"/>
              </a:ext>
            </a:extLst>
          </p:cNvPr>
          <p:cNvSpPr>
            <a:spLocks noGrp="1"/>
          </p:cNvSpPr>
          <p:nvPr>
            <p:ph type="title"/>
          </p:nvPr>
        </p:nvSpPr>
        <p:spPr>
          <a:xfrm>
            <a:off x="702625" y="210421"/>
            <a:ext cx="10834234" cy="612775"/>
          </a:xfrm>
        </p:spPr>
        <p:txBody>
          <a:bodyPr>
            <a:normAutofit/>
          </a:bodyPr>
          <a:lstStyle/>
          <a:p>
            <a:r>
              <a:rPr lang="en-US" sz="3200" dirty="0">
                <a:solidFill>
                  <a:srgbClr val="161A3E"/>
                </a:solidFill>
                <a:latin typeface="+mn-lt"/>
                <a:ea typeface="Nunito Sans Bold" pitchFamily="34" charset="-122"/>
                <a:cs typeface="Nunito Sans Bold" pitchFamily="34" charset="-120"/>
              </a:rPr>
              <a:t>Results &amp; Metrics</a:t>
            </a:r>
            <a:endParaRPr lang="en-IN" sz="3200" dirty="0">
              <a:latin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 0"/>
          <p:cNvSpPr/>
          <p:nvPr/>
        </p:nvSpPr>
        <p:spPr>
          <a:xfrm>
            <a:off x="657919" y="522883"/>
            <a:ext cx="4699397" cy="587375"/>
          </a:xfrm>
          <a:prstGeom prst="rect">
            <a:avLst/>
          </a:prstGeom>
          <a:noFill/>
          <a:ln/>
        </p:spPr>
        <p:txBody>
          <a:bodyPr wrap="none" lIns="0" tIns="0" rIns="0" bIns="0" rtlCol="0" anchor="t"/>
          <a:lstStyle/>
          <a:p>
            <a:pPr>
              <a:lnSpc>
                <a:spcPts val="4625"/>
              </a:lnSpc>
            </a:pPr>
            <a:endParaRPr lang="en-US" sz="3667" dirty="0"/>
          </a:p>
        </p:txBody>
      </p:sp>
      <p:sp>
        <p:nvSpPr>
          <p:cNvPr id="3" name="Text 1"/>
          <p:cNvSpPr/>
          <p:nvPr/>
        </p:nvSpPr>
        <p:spPr>
          <a:xfrm>
            <a:off x="657919" y="1016029"/>
            <a:ext cx="187920" cy="234950"/>
          </a:xfrm>
          <a:prstGeom prst="rect">
            <a:avLst/>
          </a:prstGeom>
          <a:noFill/>
          <a:ln/>
        </p:spPr>
        <p:txBody>
          <a:bodyPr wrap="none" lIns="0" tIns="0" rIns="0" bIns="0" rtlCol="0" anchor="t"/>
          <a:lstStyle/>
          <a:p>
            <a:pPr>
              <a:lnSpc>
                <a:spcPts val="2333"/>
              </a:lnSpc>
            </a:pPr>
            <a:r>
              <a:rPr lang="en-US" sz="1458" dirty="0">
                <a:solidFill>
                  <a:srgbClr val="000000"/>
                </a:solidFill>
                <a:latin typeface="Nunito Sans Light" pitchFamily="34" charset="0"/>
                <a:ea typeface="Nunito Sans Light" pitchFamily="34" charset="-122"/>
                <a:cs typeface="Nunito Sans Light" pitchFamily="34" charset="-120"/>
              </a:rPr>
              <a:t>01</a:t>
            </a:r>
            <a:endParaRPr lang="en-US" sz="1458" dirty="0"/>
          </a:p>
        </p:txBody>
      </p:sp>
      <p:sp>
        <p:nvSpPr>
          <p:cNvPr id="4" name="Shape 2"/>
          <p:cNvSpPr/>
          <p:nvPr/>
        </p:nvSpPr>
        <p:spPr>
          <a:xfrm>
            <a:off x="657919" y="1310014"/>
            <a:ext cx="3500735" cy="25400"/>
          </a:xfrm>
          <a:prstGeom prst="rect">
            <a:avLst/>
          </a:prstGeom>
          <a:solidFill>
            <a:srgbClr val="1D1B58"/>
          </a:solidFill>
          <a:ln/>
        </p:spPr>
      </p:sp>
      <p:sp>
        <p:nvSpPr>
          <p:cNvPr id="5" name="Text 3"/>
          <p:cNvSpPr/>
          <p:nvPr/>
        </p:nvSpPr>
        <p:spPr>
          <a:xfrm>
            <a:off x="657919" y="1454774"/>
            <a:ext cx="3500735" cy="587375"/>
          </a:xfrm>
          <a:prstGeom prst="rect">
            <a:avLst/>
          </a:prstGeom>
          <a:noFill/>
          <a:ln/>
        </p:spPr>
        <p:txBody>
          <a:bodyPr wrap="square" lIns="0" tIns="0" rIns="0" bIns="0" rtlCol="0" anchor="t"/>
          <a:lstStyle/>
          <a:p>
            <a:pPr>
              <a:lnSpc>
                <a:spcPts val="2292"/>
              </a:lnSpc>
            </a:pPr>
            <a:r>
              <a:rPr lang="en-US" sz="1833" b="1" dirty="0">
                <a:solidFill>
                  <a:srgbClr val="000000"/>
                </a:solidFill>
                <a:latin typeface="Nunito Sans Bold" pitchFamily="34" charset="0"/>
                <a:ea typeface="Nunito Sans Bold" pitchFamily="34" charset="-122"/>
                <a:cs typeface="Nunito Sans Bold" pitchFamily="34" charset="-120"/>
              </a:rPr>
              <a:t>Pipeline Timing Had to Be Rebalanced</a:t>
            </a:r>
            <a:endParaRPr lang="en-US" sz="1833" dirty="0"/>
          </a:p>
        </p:txBody>
      </p:sp>
      <p:sp>
        <p:nvSpPr>
          <p:cNvPr id="6" name="Text 4"/>
          <p:cNvSpPr/>
          <p:nvPr/>
        </p:nvSpPr>
        <p:spPr>
          <a:xfrm>
            <a:off x="657919" y="2154267"/>
            <a:ext cx="3500735" cy="1499692"/>
          </a:xfrm>
          <a:prstGeom prst="rect">
            <a:avLst/>
          </a:prstGeom>
          <a:noFill/>
          <a:ln/>
        </p:spPr>
        <p:txBody>
          <a:bodyPr wrap="square" lIns="0" tIns="0" rIns="0" bIns="0" rtlCol="0" anchor="t"/>
          <a:lstStyle/>
          <a:p>
            <a:pPr>
              <a:lnSpc>
                <a:spcPts val="2333"/>
              </a:lnSpc>
            </a:pPr>
            <a:r>
              <a:rPr lang="en-US" sz="1458" dirty="0">
                <a:solidFill>
                  <a:srgbClr val="000000"/>
                </a:solidFill>
                <a:latin typeface="Nunito Sans" pitchFamily="34" charset="0"/>
                <a:ea typeface="Nunito Sans" pitchFamily="34" charset="-122"/>
                <a:cs typeface="Nunito Sans" pitchFamily="34" charset="-120"/>
              </a:rPr>
              <a:t>System stability was maintained only when Ollama stayed under 1.5s and the full turn stayed under 3s; beyond that, noticeable lag and occasional timeouts were observed</a:t>
            </a:r>
            <a:endParaRPr lang="en-US" sz="1458" dirty="0"/>
          </a:p>
        </p:txBody>
      </p:sp>
      <p:sp>
        <p:nvSpPr>
          <p:cNvPr id="7" name="Text 5"/>
          <p:cNvSpPr/>
          <p:nvPr/>
        </p:nvSpPr>
        <p:spPr>
          <a:xfrm>
            <a:off x="4345583" y="1016029"/>
            <a:ext cx="187920" cy="234950"/>
          </a:xfrm>
          <a:prstGeom prst="rect">
            <a:avLst/>
          </a:prstGeom>
          <a:noFill/>
          <a:ln/>
        </p:spPr>
        <p:txBody>
          <a:bodyPr wrap="none" lIns="0" tIns="0" rIns="0" bIns="0" rtlCol="0" anchor="t"/>
          <a:lstStyle/>
          <a:p>
            <a:pPr>
              <a:lnSpc>
                <a:spcPts val="2333"/>
              </a:lnSpc>
            </a:pPr>
            <a:r>
              <a:rPr lang="en-US" sz="1458" dirty="0">
                <a:solidFill>
                  <a:srgbClr val="000000"/>
                </a:solidFill>
                <a:latin typeface="Nunito Sans Light" pitchFamily="34" charset="0"/>
                <a:ea typeface="Nunito Sans Light" pitchFamily="34" charset="-122"/>
                <a:cs typeface="Nunito Sans Light" pitchFamily="34" charset="-120"/>
              </a:rPr>
              <a:t>02</a:t>
            </a:r>
            <a:endParaRPr lang="en-US" sz="1458" dirty="0"/>
          </a:p>
        </p:txBody>
      </p:sp>
      <p:sp>
        <p:nvSpPr>
          <p:cNvPr id="8" name="Shape 6"/>
          <p:cNvSpPr/>
          <p:nvPr/>
        </p:nvSpPr>
        <p:spPr>
          <a:xfrm>
            <a:off x="4345583" y="1310014"/>
            <a:ext cx="3500735" cy="25400"/>
          </a:xfrm>
          <a:prstGeom prst="rect">
            <a:avLst/>
          </a:prstGeom>
          <a:solidFill>
            <a:srgbClr val="1D1B58"/>
          </a:solidFill>
          <a:ln/>
        </p:spPr>
      </p:sp>
      <p:sp>
        <p:nvSpPr>
          <p:cNvPr id="9" name="Text 7"/>
          <p:cNvSpPr/>
          <p:nvPr/>
        </p:nvSpPr>
        <p:spPr>
          <a:xfrm>
            <a:off x="4345583" y="1454774"/>
            <a:ext cx="3500735" cy="587375"/>
          </a:xfrm>
          <a:prstGeom prst="rect">
            <a:avLst/>
          </a:prstGeom>
          <a:noFill/>
          <a:ln/>
        </p:spPr>
        <p:txBody>
          <a:bodyPr wrap="square" lIns="0" tIns="0" rIns="0" bIns="0" rtlCol="0" anchor="t"/>
          <a:lstStyle/>
          <a:p>
            <a:pPr>
              <a:lnSpc>
                <a:spcPts val="2292"/>
              </a:lnSpc>
            </a:pPr>
            <a:r>
              <a:rPr lang="en-US" sz="1833" b="1" dirty="0">
                <a:solidFill>
                  <a:srgbClr val="000000"/>
                </a:solidFill>
                <a:latin typeface="Nunito Sans Bold" pitchFamily="34" charset="0"/>
                <a:ea typeface="Nunito Sans Bold" pitchFamily="34" charset="-122"/>
                <a:cs typeface="Nunito Sans Bold" pitchFamily="34" charset="-120"/>
              </a:rPr>
              <a:t>In-Memory Processing Cut Turn Time</a:t>
            </a:r>
            <a:endParaRPr lang="en-US" sz="1833" dirty="0"/>
          </a:p>
        </p:txBody>
      </p:sp>
      <p:sp>
        <p:nvSpPr>
          <p:cNvPr id="10" name="Text 8"/>
          <p:cNvSpPr/>
          <p:nvPr/>
        </p:nvSpPr>
        <p:spPr>
          <a:xfrm>
            <a:off x="4345583" y="2154267"/>
            <a:ext cx="3500735" cy="1199753"/>
          </a:xfrm>
          <a:prstGeom prst="rect">
            <a:avLst/>
          </a:prstGeom>
          <a:noFill/>
          <a:ln/>
        </p:spPr>
        <p:txBody>
          <a:bodyPr wrap="square" lIns="0" tIns="0" rIns="0" bIns="0" rtlCol="0" anchor="t"/>
          <a:lstStyle/>
          <a:p>
            <a:pPr>
              <a:lnSpc>
                <a:spcPts val="2333"/>
              </a:lnSpc>
            </a:pPr>
            <a:r>
              <a:rPr lang="en-US" sz="1458" dirty="0">
                <a:solidFill>
                  <a:srgbClr val="000000"/>
                </a:solidFill>
                <a:latin typeface="Nunito Sans" pitchFamily="34" charset="0"/>
                <a:ea typeface="Nunito Sans" pitchFamily="34" charset="-122"/>
                <a:cs typeface="Nunito Sans" pitchFamily="34" charset="-120"/>
              </a:rPr>
              <a:t>Removing temp WAV writes saved roughly 50–200 ms per turn and eliminated file-handling failures during longer test runs</a:t>
            </a:r>
            <a:endParaRPr lang="en-US" sz="1458" dirty="0"/>
          </a:p>
        </p:txBody>
      </p:sp>
      <p:sp>
        <p:nvSpPr>
          <p:cNvPr id="11" name="Text 9"/>
          <p:cNvSpPr/>
          <p:nvPr/>
        </p:nvSpPr>
        <p:spPr>
          <a:xfrm>
            <a:off x="8033246" y="1016029"/>
            <a:ext cx="187920" cy="234950"/>
          </a:xfrm>
          <a:prstGeom prst="rect">
            <a:avLst/>
          </a:prstGeom>
          <a:noFill/>
          <a:ln/>
        </p:spPr>
        <p:txBody>
          <a:bodyPr wrap="none" lIns="0" tIns="0" rIns="0" bIns="0" rtlCol="0" anchor="t"/>
          <a:lstStyle/>
          <a:p>
            <a:pPr>
              <a:lnSpc>
                <a:spcPts val="2333"/>
              </a:lnSpc>
            </a:pPr>
            <a:r>
              <a:rPr lang="en-US" sz="1458" dirty="0">
                <a:solidFill>
                  <a:srgbClr val="000000"/>
                </a:solidFill>
                <a:latin typeface="Nunito Sans Light" pitchFamily="34" charset="0"/>
                <a:ea typeface="Nunito Sans Light" pitchFamily="34" charset="-122"/>
                <a:cs typeface="Nunito Sans Light" pitchFamily="34" charset="-120"/>
              </a:rPr>
              <a:t>03</a:t>
            </a:r>
            <a:endParaRPr lang="en-US" sz="1458" dirty="0"/>
          </a:p>
        </p:txBody>
      </p:sp>
      <p:sp>
        <p:nvSpPr>
          <p:cNvPr id="12" name="Shape 10"/>
          <p:cNvSpPr/>
          <p:nvPr/>
        </p:nvSpPr>
        <p:spPr>
          <a:xfrm>
            <a:off x="8033246" y="1310014"/>
            <a:ext cx="3500834" cy="25400"/>
          </a:xfrm>
          <a:prstGeom prst="rect">
            <a:avLst/>
          </a:prstGeom>
          <a:solidFill>
            <a:srgbClr val="1D1B58"/>
          </a:solidFill>
          <a:ln/>
        </p:spPr>
      </p:sp>
      <p:sp>
        <p:nvSpPr>
          <p:cNvPr id="13" name="Text 11"/>
          <p:cNvSpPr/>
          <p:nvPr/>
        </p:nvSpPr>
        <p:spPr>
          <a:xfrm>
            <a:off x="8033246" y="1454774"/>
            <a:ext cx="3500834" cy="587375"/>
          </a:xfrm>
          <a:prstGeom prst="rect">
            <a:avLst/>
          </a:prstGeom>
          <a:noFill/>
          <a:ln/>
        </p:spPr>
        <p:txBody>
          <a:bodyPr wrap="square" lIns="0" tIns="0" rIns="0" bIns="0" rtlCol="0" anchor="t"/>
          <a:lstStyle/>
          <a:p>
            <a:pPr>
              <a:lnSpc>
                <a:spcPts val="2292"/>
              </a:lnSpc>
            </a:pPr>
            <a:r>
              <a:rPr lang="en-US" sz="1833" b="1" dirty="0">
                <a:solidFill>
                  <a:srgbClr val="000000"/>
                </a:solidFill>
                <a:latin typeface="Nunito Sans Bold" pitchFamily="34" charset="0"/>
                <a:ea typeface="Nunito Sans Bold" pitchFamily="34" charset="-122"/>
                <a:cs typeface="Nunito Sans Bold" pitchFamily="34" charset="-120"/>
              </a:rPr>
              <a:t>VAD Needed a Tuned Threshold</a:t>
            </a:r>
            <a:endParaRPr lang="en-US" sz="1833" dirty="0"/>
          </a:p>
        </p:txBody>
      </p:sp>
      <p:sp>
        <p:nvSpPr>
          <p:cNvPr id="14" name="Text 12"/>
          <p:cNvSpPr/>
          <p:nvPr/>
        </p:nvSpPr>
        <p:spPr>
          <a:xfrm>
            <a:off x="8033246" y="2154267"/>
            <a:ext cx="3500834" cy="1499692"/>
          </a:xfrm>
          <a:prstGeom prst="rect">
            <a:avLst/>
          </a:prstGeom>
          <a:noFill/>
          <a:ln/>
        </p:spPr>
        <p:txBody>
          <a:bodyPr wrap="square" lIns="0" tIns="0" rIns="0" bIns="0" rtlCol="0" anchor="t"/>
          <a:lstStyle/>
          <a:p>
            <a:pPr>
              <a:lnSpc>
                <a:spcPts val="2333"/>
              </a:lnSpc>
            </a:pPr>
            <a:r>
              <a:rPr lang="en-US" sz="1458" dirty="0">
                <a:solidFill>
                  <a:srgbClr val="000000"/>
                </a:solidFill>
                <a:latin typeface="Nunito Sans" pitchFamily="34" charset="0"/>
                <a:ea typeface="Nunito Sans" pitchFamily="34" charset="-122"/>
                <a:cs typeface="Nunito Sans" pitchFamily="34" charset="-120"/>
              </a:rPr>
              <a:t>A threshold around 0.45 RMS was found to give the best balance; lower values captured too much background noise, while higher values missed quieter speech</a:t>
            </a:r>
            <a:endParaRPr lang="en-US" sz="1458" dirty="0"/>
          </a:p>
        </p:txBody>
      </p:sp>
      <p:sp>
        <p:nvSpPr>
          <p:cNvPr id="15" name="Text 13"/>
          <p:cNvSpPr/>
          <p:nvPr/>
        </p:nvSpPr>
        <p:spPr>
          <a:xfrm>
            <a:off x="657919" y="3981777"/>
            <a:ext cx="187920" cy="234950"/>
          </a:xfrm>
          <a:prstGeom prst="rect">
            <a:avLst/>
          </a:prstGeom>
          <a:noFill/>
          <a:ln/>
        </p:spPr>
        <p:txBody>
          <a:bodyPr wrap="none" lIns="0" tIns="0" rIns="0" bIns="0" rtlCol="0" anchor="t"/>
          <a:lstStyle/>
          <a:p>
            <a:pPr>
              <a:lnSpc>
                <a:spcPts val="2333"/>
              </a:lnSpc>
            </a:pPr>
            <a:r>
              <a:rPr lang="en-US" sz="1458" dirty="0">
                <a:solidFill>
                  <a:srgbClr val="000000"/>
                </a:solidFill>
                <a:latin typeface="Nunito Sans Light" pitchFamily="34" charset="0"/>
                <a:ea typeface="Nunito Sans Light" pitchFamily="34" charset="-122"/>
                <a:cs typeface="Nunito Sans Light" pitchFamily="34" charset="-120"/>
              </a:rPr>
              <a:t>04</a:t>
            </a:r>
            <a:endParaRPr lang="en-US" sz="1458" dirty="0"/>
          </a:p>
        </p:txBody>
      </p:sp>
      <p:sp>
        <p:nvSpPr>
          <p:cNvPr id="16" name="Shape 14"/>
          <p:cNvSpPr/>
          <p:nvPr/>
        </p:nvSpPr>
        <p:spPr>
          <a:xfrm>
            <a:off x="657919" y="4275762"/>
            <a:ext cx="5344617" cy="25400"/>
          </a:xfrm>
          <a:prstGeom prst="rect">
            <a:avLst/>
          </a:prstGeom>
          <a:solidFill>
            <a:srgbClr val="1D1B58"/>
          </a:solidFill>
          <a:ln/>
        </p:spPr>
      </p:sp>
      <p:sp>
        <p:nvSpPr>
          <p:cNvPr id="17" name="Text 15"/>
          <p:cNvSpPr/>
          <p:nvPr/>
        </p:nvSpPr>
        <p:spPr>
          <a:xfrm>
            <a:off x="657919" y="4420522"/>
            <a:ext cx="3735090" cy="293688"/>
          </a:xfrm>
          <a:prstGeom prst="rect">
            <a:avLst/>
          </a:prstGeom>
          <a:noFill/>
          <a:ln/>
        </p:spPr>
        <p:txBody>
          <a:bodyPr wrap="none" lIns="0" tIns="0" rIns="0" bIns="0" rtlCol="0" anchor="t"/>
          <a:lstStyle/>
          <a:p>
            <a:pPr>
              <a:lnSpc>
                <a:spcPts val="2292"/>
              </a:lnSpc>
            </a:pPr>
            <a:r>
              <a:rPr lang="en-US" sz="1833" b="1" dirty="0">
                <a:solidFill>
                  <a:srgbClr val="000000"/>
                </a:solidFill>
                <a:latin typeface="Nunito Sans Bold" pitchFamily="34" charset="0"/>
                <a:ea typeface="Nunito Sans Bold" pitchFamily="34" charset="-122"/>
                <a:cs typeface="Nunito Sans Bold" pitchFamily="34" charset="-120"/>
              </a:rPr>
              <a:t>Async TTS Prevented Audio Stalls</a:t>
            </a:r>
            <a:endParaRPr lang="en-US" sz="1833" dirty="0"/>
          </a:p>
        </p:txBody>
      </p:sp>
      <p:sp>
        <p:nvSpPr>
          <p:cNvPr id="18" name="Text 16"/>
          <p:cNvSpPr/>
          <p:nvPr/>
        </p:nvSpPr>
        <p:spPr>
          <a:xfrm>
            <a:off x="657919" y="4826327"/>
            <a:ext cx="5344617" cy="899815"/>
          </a:xfrm>
          <a:prstGeom prst="rect">
            <a:avLst/>
          </a:prstGeom>
          <a:noFill/>
          <a:ln/>
        </p:spPr>
        <p:txBody>
          <a:bodyPr wrap="square" lIns="0" tIns="0" rIns="0" bIns="0" rtlCol="0" anchor="t"/>
          <a:lstStyle/>
          <a:p>
            <a:pPr>
              <a:lnSpc>
                <a:spcPts val="2333"/>
              </a:lnSpc>
            </a:pPr>
            <a:r>
              <a:rPr lang="en-US" sz="1458" dirty="0">
                <a:solidFill>
                  <a:srgbClr val="000000"/>
                </a:solidFill>
                <a:latin typeface="Nunito Sans" pitchFamily="34" charset="0"/>
                <a:ea typeface="Nunito Sans" pitchFamily="34" charset="-122"/>
                <a:cs typeface="Nunito Sans" pitchFamily="34" charset="-120"/>
              </a:rPr>
              <a:t>Blocking synthesis calls caused audible pauses and broke conversation flow, while async playback kept the pipeline responsive under repeated turn-taking</a:t>
            </a:r>
            <a:endParaRPr lang="en-US" sz="1458" dirty="0"/>
          </a:p>
        </p:txBody>
      </p:sp>
      <p:sp>
        <p:nvSpPr>
          <p:cNvPr id="19" name="Text 17"/>
          <p:cNvSpPr/>
          <p:nvPr/>
        </p:nvSpPr>
        <p:spPr>
          <a:xfrm>
            <a:off x="6189464" y="3981777"/>
            <a:ext cx="187920" cy="234950"/>
          </a:xfrm>
          <a:prstGeom prst="rect">
            <a:avLst/>
          </a:prstGeom>
          <a:noFill/>
          <a:ln/>
        </p:spPr>
        <p:txBody>
          <a:bodyPr wrap="none" lIns="0" tIns="0" rIns="0" bIns="0" rtlCol="0" anchor="t"/>
          <a:lstStyle/>
          <a:p>
            <a:pPr>
              <a:lnSpc>
                <a:spcPts val="2333"/>
              </a:lnSpc>
            </a:pPr>
            <a:r>
              <a:rPr lang="en-US" sz="1458" dirty="0">
                <a:solidFill>
                  <a:srgbClr val="000000"/>
                </a:solidFill>
                <a:latin typeface="Nunito Sans Light" pitchFamily="34" charset="0"/>
                <a:ea typeface="Nunito Sans Light" pitchFamily="34" charset="-122"/>
                <a:cs typeface="Nunito Sans Light" pitchFamily="34" charset="-120"/>
              </a:rPr>
              <a:t>05</a:t>
            </a:r>
            <a:endParaRPr lang="en-US" sz="1458" dirty="0"/>
          </a:p>
        </p:txBody>
      </p:sp>
      <p:sp>
        <p:nvSpPr>
          <p:cNvPr id="20" name="Shape 18"/>
          <p:cNvSpPr/>
          <p:nvPr/>
        </p:nvSpPr>
        <p:spPr>
          <a:xfrm>
            <a:off x="6189464" y="4275762"/>
            <a:ext cx="5344617" cy="25400"/>
          </a:xfrm>
          <a:prstGeom prst="rect">
            <a:avLst/>
          </a:prstGeom>
          <a:solidFill>
            <a:srgbClr val="1D1B58"/>
          </a:solidFill>
          <a:ln/>
        </p:spPr>
      </p:sp>
      <p:sp>
        <p:nvSpPr>
          <p:cNvPr id="21" name="Text 19"/>
          <p:cNvSpPr/>
          <p:nvPr/>
        </p:nvSpPr>
        <p:spPr>
          <a:xfrm>
            <a:off x="6189464" y="4420522"/>
            <a:ext cx="4574083" cy="293688"/>
          </a:xfrm>
          <a:prstGeom prst="rect">
            <a:avLst/>
          </a:prstGeom>
          <a:noFill/>
          <a:ln/>
        </p:spPr>
        <p:txBody>
          <a:bodyPr wrap="none" lIns="0" tIns="0" rIns="0" bIns="0" rtlCol="0" anchor="t"/>
          <a:lstStyle/>
          <a:p>
            <a:pPr>
              <a:lnSpc>
                <a:spcPts val="2292"/>
              </a:lnSpc>
            </a:pPr>
            <a:r>
              <a:rPr lang="en-US" sz="1833" b="1" dirty="0">
                <a:solidFill>
                  <a:srgbClr val="000000"/>
                </a:solidFill>
                <a:latin typeface="Nunito Sans Bold" pitchFamily="34" charset="0"/>
                <a:ea typeface="Nunito Sans Bold" pitchFamily="34" charset="-122"/>
                <a:cs typeface="Nunito Sans Bold" pitchFamily="34" charset="-120"/>
              </a:rPr>
              <a:t>Production Limits Showed Up Under Load</a:t>
            </a:r>
            <a:endParaRPr lang="en-US" sz="1833" dirty="0"/>
          </a:p>
        </p:txBody>
      </p:sp>
      <p:sp>
        <p:nvSpPr>
          <p:cNvPr id="22" name="Text 20"/>
          <p:cNvSpPr/>
          <p:nvPr/>
        </p:nvSpPr>
        <p:spPr>
          <a:xfrm>
            <a:off x="6189464" y="4826327"/>
            <a:ext cx="5344617" cy="899815"/>
          </a:xfrm>
          <a:prstGeom prst="rect">
            <a:avLst/>
          </a:prstGeom>
          <a:noFill/>
          <a:ln/>
        </p:spPr>
        <p:txBody>
          <a:bodyPr wrap="square" lIns="0" tIns="0" rIns="0" bIns="0" rtlCol="0" anchor="t"/>
          <a:lstStyle/>
          <a:p>
            <a:pPr>
              <a:lnSpc>
                <a:spcPts val="2333"/>
              </a:lnSpc>
            </a:pPr>
            <a:r>
              <a:rPr lang="en-US" sz="1458" dirty="0">
                <a:solidFill>
                  <a:srgbClr val="000000"/>
                </a:solidFill>
                <a:latin typeface="Nunito Sans" pitchFamily="34" charset="0"/>
                <a:ea typeface="Nunito Sans" pitchFamily="34" charset="-122"/>
                <a:cs typeface="Nunito Sans" pitchFamily="34" charset="-120"/>
              </a:rPr>
              <a:t>Memory usage peaked at about 450MB in sustained testing, so the architecture was kept local and lightweight rather than adding heavier buffering or model layers</a:t>
            </a:r>
            <a:endParaRPr lang="en-US" sz="1458" dirty="0"/>
          </a:p>
        </p:txBody>
      </p:sp>
      <p:sp>
        <p:nvSpPr>
          <p:cNvPr id="23" name="Title 22">
            <a:extLst>
              <a:ext uri="{FF2B5EF4-FFF2-40B4-BE49-F238E27FC236}">
                <a16:creationId xmlns:a16="http://schemas.microsoft.com/office/drawing/2014/main" id="{F2A8A5BA-1720-5CDD-4BCD-47562D4D37B4}"/>
              </a:ext>
            </a:extLst>
          </p:cNvPr>
          <p:cNvSpPr>
            <a:spLocks noGrp="1"/>
          </p:cNvSpPr>
          <p:nvPr>
            <p:ph type="title"/>
          </p:nvPr>
        </p:nvSpPr>
        <p:spPr>
          <a:xfrm>
            <a:off x="656091" y="463848"/>
            <a:ext cx="10834234" cy="612775"/>
          </a:xfrm>
        </p:spPr>
        <p:txBody>
          <a:bodyPr>
            <a:normAutofit fontScale="90000"/>
          </a:bodyPr>
          <a:lstStyle/>
          <a:p>
            <a:r>
              <a:rPr lang="en-US" sz="3600" dirty="0">
                <a:solidFill>
                  <a:srgbClr val="161A3E"/>
                </a:solidFill>
                <a:latin typeface="Nunito Sans Bold" pitchFamily="34" charset="0"/>
                <a:ea typeface="Nunito Sans Bold" pitchFamily="34" charset="-122"/>
                <a:cs typeface="Nunito Sans Bold" pitchFamily="34" charset="-120"/>
              </a:rPr>
              <a:t>Key Learnings</a:t>
            </a:r>
            <a:br>
              <a:rPr lang="en-US" sz="3600" dirty="0"/>
            </a:br>
            <a:endParaRPr lang="en-IN" dirty="0"/>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600869"/>
            <a:ext cx="3804245" cy="472480"/>
          </a:xfrm>
          <a:prstGeom prst="rect">
            <a:avLst/>
          </a:prstGeom>
          <a:noFill/>
          <a:ln/>
        </p:spPr>
        <p:txBody>
          <a:bodyPr wrap="none" lIns="0" tIns="0" rIns="0" bIns="0" rtlCol="0" anchor="t"/>
          <a:lstStyle/>
          <a:p>
            <a:pPr>
              <a:lnSpc>
                <a:spcPts val="3708"/>
              </a:lnSpc>
            </a:pPr>
            <a:endParaRPr lang="en-US" sz="2958"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92" y="1315244"/>
            <a:ext cx="378023" cy="378023"/>
          </a:xfrm>
          <a:prstGeom prst="rect">
            <a:avLst/>
          </a:prstGeom>
        </p:spPr>
      </p:pic>
      <p:sp>
        <p:nvSpPr>
          <p:cNvPr id="4" name="Text 1"/>
          <p:cNvSpPr/>
          <p:nvPr/>
        </p:nvSpPr>
        <p:spPr>
          <a:xfrm>
            <a:off x="1190724" y="1315244"/>
            <a:ext cx="1890217" cy="236240"/>
          </a:xfrm>
          <a:prstGeom prst="rect">
            <a:avLst/>
          </a:prstGeom>
          <a:noFill/>
          <a:ln/>
        </p:spPr>
        <p:txBody>
          <a:bodyPr wrap="none" lIns="0" tIns="0" rIns="0" bIns="0" rtlCol="0" anchor="t"/>
          <a:lstStyle/>
          <a:p>
            <a:pPr>
              <a:lnSpc>
                <a:spcPts val="1833"/>
              </a:lnSpc>
            </a:pPr>
            <a:r>
              <a:rPr lang="en-US" b="1" dirty="0">
                <a:solidFill>
                  <a:srgbClr val="000000"/>
                </a:solidFill>
                <a:ea typeface="Nunito Sans Bold" pitchFamily="34" charset="-122"/>
                <a:cs typeface="Nunito Sans Bold" pitchFamily="34" charset="-120"/>
              </a:rPr>
              <a:t>GPU Inference</a:t>
            </a:r>
            <a:endParaRPr lang="en-US" dirty="0"/>
          </a:p>
        </p:txBody>
      </p:sp>
      <p:sp>
        <p:nvSpPr>
          <p:cNvPr id="5" name="Text 2"/>
          <p:cNvSpPr/>
          <p:nvPr/>
        </p:nvSpPr>
        <p:spPr>
          <a:xfrm>
            <a:off x="1190725" y="1624012"/>
            <a:ext cx="4829671" cy="435372"/>
          </a:xfrm>
          <a:prstGeom prst="rect">
            <a:avLst/>
          </a:prstGeom>
          <a:noFill/>
          <a:ln/>
        </p:spPr>
        <p:txBody>
          <a:bodyPr wrap="square" lIns="0" tIns="0" rIns="0" bIns="0" rtlCol="0" anchor="t"/>
          <a:lstStyle/>
          <a:p>
            <a:pPr>
              <a:lnSpc>
                <a:spcPts val="1708"/>
              </a:lnSpc>
            </a:pPr>
            <a:r>
              <a:rPr lang="en-US" sz="1400" dirty="0">
                <a:solidFill>
                  <a:srgbClr val="000000"/>
                </a:solidFill>
                <a:ea typeface="Nunito Sans" pitchFamily="34" charset="-122"/>
                <a:cs typeface="Nunito Sans" pitchFamily="34" charset="-120"/>
              </a:rPr>
              <a:t>CUDA acceleration reduces STT from 400 ms to 50 ms, achieving ~1 second total latency</a:t>
            </a:r>
            <a:endParaRPr lang="en-US" sz="14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52604" y="1326130"/>
            <a:ext cx="378023" cy="378023"/>
          </a:xfrm>
          <a:prstGeom prst="rect">
            <a:avLst/>
          </a:prstGeom>
        </p:spPr>
      </p:pic>
      <p:sp>
        <p:nvSpPr>
          <p:cNvPr id="7" name="Text 3"/>
          <p:cNvSpPr/>
          <p:nvPr/>
        </p:nvSpPr>
        <p:spPr>
          <a:xfrm>
            <a:off x="7081836" y="1326130"/>
            <a:ext cx="1890217" cy="236240"/>
          </a:xfrm>
          <a:prstGeom prst="rect">
            <a:avLst/>
          </a:prstGeom>
          <a:noFill/>
          <a:ln/>
        </p:spPr>
        <p:txBody>
          <a:bodyPr wrap="none" lIns="0" tIns="0" rIns="0" bIns="0" rtlCol="0" anchor="t"/>
          <a:lstStyle/>
          <a:p>
            <a:pPr>
              <a:lnSpc>
                <a:spcPts val="1833"/>
              </a:lnSpc>
            </a:pPr>
            <a:r>
              <a:rPr lang="en-US" b="1" dirty="0">
                <a:solidFill>
                  <a:srgbClr val="000000"/>
                </a:solidFill>
                <a:ea typeface="Nunito Sans Bold" pitchFamily="34" charset="-122"/>
                <a:cs typeface="Nunito Sans Bold" pitchFamily="34" charset="-120"/>
              </a:rPr>
              <a:t>Streaming TTS</a:t>
            </a:r>
            <a:endParaRPr lang="en-US" dirty="0"/>
          </a:p>
        </p:txBody>
      </p:sp>
      <p:sp>
        <p:nvSpPr>
          <p:cNvPr id="8" name="Text 4"/>
          <p:cNvSpPr/>
          <p:nvPr/>
        </p:nvSpPr>
        <p:spPr>
          <a:xfrm>
            <a:off x="7081837" y="1634898"/>
            <a:ext cx="4829671" cy="435372"/>
          </a:xfrm>
          <a:prstGeom prst="rect">
            <a:avLst/>
          </a:prstGeom>
          <a:noFill/>
          <a:ln/>
        </p:spPr>
        <p:txBody>
          <a:bodyPr wrap="square" lIns="0" tIns="0" rIns="0" bIns="0" rtlCol="0" anchor="t"/>
          <a:lstStyle/>
          <a:p>
            <a:pPr>
              <a:lnSpc>
                <a:spcPts val="1708"/>
              </a:lnSpc>
            </a:pPr>
            <a:r>
              <a:rPr lang="en-US" sz="1400" dirty="0">
                <a:solidFill>
                  <a:srgbClr val="000000"/>
                </a:solidFill>
                <a:ea typeface="Nunito Sans" pitchFamily="34" charset="-122"/>
                <a:cs typeface="Nunito Sans" pitchFamily="34" charset="-120"/>
              </a:rPr>
              <a:t>Incremental audio generation eliminates the wait for full response synthesis</a:t>
            </a:r>
            <a:endParaRPr lang="en-US" sz="14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92" y="2301280"/>
            <a:ext cx="378023" cy="378023"/>
          </a:xfrm>
          <a:prstGeom prst="rect">
            <a:avLst/>
          </a:prstGeom>
        </p:spPr>
      </p:pic>
      <p:sp>
        <p:nvSpPr>
          <p:cNvPr id="10" name="Text 5"/>
          <p:cNvSpPr/>
          <p:nvPr/>
        </p:nvSpPr>
        <p:spPr>
          <a:xfrm>
            <a:off x="1190724" y="2301280"/>
            <a:ext cx="1890217" cy="236240"/>
          </a:xfrm>
          <a:prstGeom prst="rect">
            <a:avLst/>
          </a:prstGeom>
          <a:noFill/>
          <a:ln/>
        </p:spPr>
        <p:txBody>
          <a:bodyPr wrap="none" lIns="0" tIns="0" rIns="0" bIns="0" rtlCol="0" anchor="t"/>
          <a:lstStyle/>
          <a:p>
            <a:pPr>
              <a:lnSpc>
                <a:spcPts val="1833"/>
              </a:lnSpc>
            </a:pPr>
            <a:r>
              <a:rPr lang="en-US" b="1" dirty="0">
                <a:solidFill>
                  <a:srgbClr val="000000"/>
                </a:solidFill>
                <a:ea typeface="Nunito Sans Bold" pitchFamily="34" charset="-122"/>
                <a:cs typeface="Nunito Sans Bold" pitchFamily="34" charset="-120"/>
              </a:rPr>
              <a:t>Vector RAG</a:t>
            </a:r>
            <a:endParaRPr lang="en-US" dirty="0"/>
          </a:p>
        </p:txBody>
      </p:sp>
      <p:sp>
        <p:nvSpPr>
          <p:cNvPr id="11" name="Text 6"/>
          <p:cNvSpPr/>
          <p:nvPr/>
        </p:nvSpPr>
        <p:spPr>
          <a:xfrm>
            <a:off x="1190725" y="2610049"/>
            <a:ext cx="4829671" cy="217686"/>
          </a:xfrm>
          <a:prstGeom prst="rect">
            <a:avLst/>
          </a:prstGeom>
          <a:noFill/>
          <a:ln/>
        </p:spPr>
        <p:txBody>
          <a:bodyPr wrap="none" lIns="0" tIns="0" rIns="0" bIns="0" rtlCol="0" anchor="t"/>
          <a:lstStyle/>
          <a:p>
            <a:pPr>
              <a:lnSpc>
                <a:spcPts val="1708"/>
              </a:lnSpc>
            </a:pPr>
            <a:r>
              <a:rPr lang="en-US" sz="1400" dirty="0">
                <a:solidFill>
                  <a:srgbClr val="000000"/>
                </a:solidFill>
                <a:ea typeface="Nunito Sans" pitchFamily="34" charset="-122"/>
                <a:cs typeface="Nunito Sans" pitchFamily="34" charset="-120"/>
              </a:rPr>
              <a:t>Semantic search with chromadb/pgvector for large product catalogs</a:t>
            </a:r>
            <a:endParaRPr lang="en-US" sz="14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52604" y="2312166"/>
            <a:ext cx="378023" cy="378023"/>
          </a:xfrm>
          <a:prstGeom prst="rect">
            <a:avLst/>
          </a:prstGeom>
        </p:spPr>
      </p:pic>
      <p:sp>
        <p:nvSpPr>
          <p:cNvPr id="13" name="Text 7"/>
          <p:cNvSpPr/>
          <p:nvPr/>
        </p:nvSpPr>
        <p:spPr>
          <a:xfrm>
            <a:off x="7081836" y="2312166"/>
            <a:ext cx="1890217" cy="236240"/>
          </a:xfrm>
          <a:prstGeom prst="rect">
            <a:avLst/>
          </a:prstGeom>
          <a:noFill/>
          <a:ln/>
        </p:spPr>
        <p:txBody>
          <a:bodyPr wrap="none" lIns="0" tIns="0" rIns="0" bIns="0" rtlCol="0" anchor="t"/>
          <a:lstStyle/>
          <a:p>
            <a:pPr>
              <a:lnSpc>
                <a:spcPts val="1833"/>
              </a:lnSpc>
            </a:pPr>
            <a:r>
              <a:rPr lang="en-US" b="1" dirty="0">
                <a:solidFill>
                  <a:srgbClr val="000000"/>
                </a:solidFill>
                <a:ea typeface="Nunito Sans Bold" pitchFamily="34" charset="-122"/>
                <a:cs typeface="Nunito Sans Bold" pitchFamily="34" charset="-120"/>
              </a:rPr>
              <a:t>Barge-In Capability</a:t>
            </a:r>
            <a:endParaRPr lang="en-US" dirty="0"/>
          </a:p>
        </p:txBody>
      </p:sp>
      <p:sp>
        <p:nvSpPr>
          <p:cNvPr id="14" name="Text 8"/>
          <p:cNvSpPr/>
          <p:nvPr/>
        </p:nvSpPr>
        <p:spPr>
          <a:xfrm>
            <a:off x="7081837" y="2620935"/>
            <a:ext cx="4829671" cy="217686"/>
          </a:xfrm>
          <a:prstGeom prst="rect">
            <a:avLst/>
          </a:prstGeom>
          <a:noFill/>
          <a:ln/>
        </p:spPr>
        <p:txBody>
          <a:bodyPr wrap="none" lIns="0" tIns="0" rIns="0" bIns="0" rtlCol="0" anchor="t"/>
          <a:lstStyle/>
          <a:p>
            <a:pPr>
              <a:lnSpc>
                <a:spcPts val="1708"/>
              </a:lnSpc>
            </a:pPr>
            <a:r>
              <a:rPr lang="en-US" sz="1400" dirty="0">
                <a:solidFill>
                  <a:srgbClr val="000000"/>
                </a:solidFill>
                <a:ea typeface="Nunito Sans" pitchFamily="34" charset="-122"/>
                <a:cs typeface="Nunito Sans" pitchFamily="34" charset="-120"/>
              </a:rPr>
              <a:t>User interruption detection for more natural turn-taking</a:t>
            </a:r>
            <a:endParaRPr lang="en-US" sz="14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1492" y="3069630"/>
            <a:ext cx="378023" cy="378023"/>
          </a:xfrm>
          <a:prstGeom prst="rect">
            <a:avLst/>
          </a:prstGeom>
        </p:spPr>
      </p:pic>
      <p:sp>
        <p:nvSpPr>
          <p:cNvPr id="16" name="Text 9"/>
          <p:cNvSpPr/>
          <p:nvPr/>
        </p:nvSpPr>
        <p:spPr>
          <a:xfrm>
            <a:off x="1190724" y="3069630"/>
            <a:ext cx="2128937" cy="236240"/>
          </a:xfrm>
          <a:prstGeom prst="rect">
            <a:avLst/>
          </a:prstGeom>
          <a:noFill/>
          <a:ln/>
        </p:spPr>
        <p:txBody>
          <a:bodyPr wrap="none" lIns="0" tIns="0" rIns="0" bIns="0" rtlCol="0" anchor="t"/>
          <a:lstStyle/>
          <a:p>
            <a:pPr>
              <a:lnSpc>
                <a:spcPts val="1833"/>
              </a:lnSpc>
            </a:pPr>
            <a:r>
              <a:rPr lang="en-US" b="1" dirty="0">
                <a:solidFill>
                  <a:srgbClr val="000000"/>
                </a:solidFill>
                <a:ea typeface="Nunito Sans Bold" pitchFamily="34" charset="-122"/>
                <a:cs typeface="Nunito Sans Bold" pitchFamily="34" charset="-120"/>
              </a:rPr>
              <a:t>Kubernetes Deployment</a:t>
            </a:r>
            <a:endParaRPr lang="en-US" dirty="0"/>
          </a:p>
        </p:txBody>
      </p:sp>
      <p:sp>
        <p:nvSpPr>
          <p:cNvPr id="17" name="Text 10"/>
          <p:cNvSpPr/>
          <p:nvPr/>
        </p:nvSpPr>
        <p:spPr>
          <a:xfrm>
            <a:off x="1190725" y="3378399"/>
            <a:ext cx="4829671" cy="217686"/>
          </a:xfrm>
          <a:prstGeom prst="rect">
            <a:avLst/>
          </a:prstGeom>
          <a:noFill/>
          <a:ln/>
        </p:spPr>
        <p:txBody>
          <a:bodyPr wrap="none" lIns="0" tIns="0" rIns="0" bIns="0" rtlCol="0" anchor="t"/>
          <a:lstStyle/>
          <a:p>
            <a:pPr>
              <a:lnSpc>
                <a:spcPts val="1708"/>
              </a:lnSpc>
            </a:pPr>
            <a:r>
              <a:rPr lang="en-US" sz="1400" dirty="0">
                <a:solidFill>
                  <a:srgbClr val="000000"/>
                </a:solidFill>
                <a:ea typeface="Nunito Sans" pitchFamily="34" charset="-122"/>
                <a:cs typeface="Nunito Sans" pitchFamily="34" charset="-120"/>
              </a:rPr>
              <a:t>GPU auto-scaling and production monitoring for operational readiness</a:t>
            </a:r>
            <a:endParaRPr lang="en-US" sz="140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52604" y="3080516"/>
            <a:ext cx="378023" cy="378023"/>
          </a:xfrm>
          <a:prstGeom prst="rect">
            <a:avLst/>
          </a:prstGeom>
        </p:spPr>
      </p:pic>
      <p:sp>
        <p:nvSpPr>
          <p:cNvPr id="19" name="Text 11"/>
          <p:cNvSpPr/>
          <p:nvPr/>
        </p:nvSpPr>
        <p:spPr>
          <a:xfrm>
            <a:off x="7081837" y="3080516"/>
            <a:ext cx="2164258" cy="236240"/>
          </a:xfrm>
          <a:prstGeom prst="rect">
            <a:avLst/>
          </a:prstGeom>
          <a:noFill/>
          <a:ln/>
        </p:spPr>
        <p:txBody>
          <a:bodyPr wrap="none" lIns="0" tIns="0" rIns="0" bIns="0" rtlCol="0" anchor="t"/>
          <a:lstStyle/>
          <a:p>
            <a:pPr>
              <a:lnSpc>
                <a:spcPts val="1833"/>
              </a:lnSpc>
            </a:pPr>
            <a:r>
              <a:rPr lang="en-US" b="1" dirty="0">
                <a:solidFill>
                  <a:srgbClr val="000000"/>
                </a:solidFill>
                <a:ea typeface="Nunito Sans Bold" pitchFamily="34" charset="-122"/>
                <a:cs typeface="Nunito Sans Bold" pitchFamily="34" charset="-120"/>
              </a:rPr>
              <a:t>Multi-Language Support</a:t>
            </a:r>
            <a:endParaRPr lang="en-US" dirty="0"/>
          </a:p>
        </p:txBody>
      </p:sp>
      <p:sp>
        <p:nvSpPr>
          <p:cNvPr id="20" name="Text 12"/>
          <p:cNvSpPr/>
          <p:nvPr/>
        </p:nvSpPr>
        <p:spPr>
          <a:xfrm>
            <a:off x="7081837" y="3389285"/>
            <a:ext cx="4829671" cy="217686"/>
          </a:xfrm>
          <a:prstGeom prst="rect">
            <a:avLst/>
          </a:prstGeom>
          <a:noFill/>
          <a:ln/>
        </p:spPr>
        <p:txBody>
          <a:bodyPr wrap="none" lIns="0" tIns="0" rIns="0" bIns="0" rtlCol="0" anchor="t"/>
          <a:lstStyle/>
          <a:p>
            <a:pPr>
              <a:lnSpc>
                <a:spcPts val="1708"/>
              </a:lnSpc>
            </a:pPr>
            <a:r>
              <a:rPr lang="en-US" sz="1400" dirty="0">
                <a:solidFill>
                  <a:srgbClr val="000000"/>
                </a:solidFill>
                <a:ea typeface="Nunito Sans" pitchFamily="34" charset="-122"/>
                <a:cs typeface="Nunito Sans" pitchFamily="34" charset="-120"/>
              </a:rPr>
              <a:t>Swap voice and model per locale for localized user experiences</a:t>
            </a:r>
            <a:endParaRPr lang="en-US" sz="1400" dirty="0"/>
          </a:p>
        </p:txBody>
      </p:sp>
      <p:sp>
        <p:nvSpPr>
          <p:cNvPr id="21" name="Shape 13"/>
          <p:cNvSpPr/>
          <p:nvPr/>
        </p:nvSpPr>
        <p:spPr>
          <a:xfrm>
            <a:off x="661492" y="3807720"/>
            <a:ext cx="10869018" cy="25202"/>
          </a:xfrm>
          <a:prstGeom prst="rect">
            <a:avLst/>
          </a:prstGeom>
          <a:solidFill>
            <a:srgbClr val="000000">
              <a:alpha val="50000"/>
            </a:srgbClr>
          </a:solidFill>
          <a:ln/>
        </p:spPr>
      </p:sp>
      <p:sp>
        <p:nvSpPr>
          <p:cNvPr id="22" name="Text 14"/>
          <p:cNvSpPr/>
          <p:nvPr/>
        </p:nvSpPr>
        <p:spPr>
          <a:xfrm>
            <a:off x="824778" y="3916489"/>
            <a:ext cx="2845892" cy="283468"/>
          </a:xfrm>
          <a:prstGeom prst="rect">
            <a:avLst/>
          </a:prstGeom>
          <a:noFill/>
          <a:ln/>
        </p:spPr>
        <p:txBody>
          <a:bodyPr wrap="none" lIns="0" tIns="0" rIns="0" bIns="0" rtlCol="0" anchor="t"/>
          <a:lstStyle/>
          <a:p>
            <a:pPr>
              <a:lnSpc>
                <a:spcPts val="2208"/>
              </a:lnSpc>
            </a:pPr>
            <a:r>
              <a:rPr lang="en-US" sz="2000" b="1" dirty="0">
                <a:solidFill>
                  <a:srgbClr val="161A3E"/>
                </a:solidFill>
                <a:ea typeface="Nunito Sans Bold" pitchFamily="34" charset="-122"/>
                <a:cs typeface="Nunito Sans Bold" pitchFamily="34" charset="-120"/>
              </a:rPr>
              <a:t>Strategic Recommendation</a:t>
            </a:r>
            <a:endParaRPr lang="en-US" sz="2000" dirty="0"/>
          </a:p>
        </p:txBody>
      </p:sp>
      <p:sp>
        <p:nvSpPr>
          <p:cNvPr id="23" name="Text 15"/>
          <p:cNvSpPr/>
          <p:nvPr/>
        </p:nvSpPr>
        <p:spPr>
          <a:xfrm>
            <a:off x="911863" y="4436794"/>
            <a:ext cx="1890217" cy="236240"/>
          </a:xfrm>
          <a:prstGeom prst="rect">
            <a:avLst/>
          </a:prstGeom>
          <a:noFill/>
          <a:ln/>
        </p:spPr>
        <p:txBody>
          <a:bodyPr wrap="none" lIns="0" tIns="0" rIns="0" bIns="0" rtlCol="0" anchor="t"/>
          <a:lstStyle/>
          <a:p>
            <a:pPr>
              <a:lnSpc>
                <a:spcPts val="1833"/>
              </a:lnSpc>
            </a:pPr>
            <a:r>
              <a:rPr lang="en-US" b="1" dirty="0">
                <a:solidFill>
                  <a:srgbClr val="161A3E"/>
                </a:solidFill>
                <a:ea typeface="Nunito Sans Bold" pitchFamily="34" charset="-122"/>
                <a:cs typeface="Nunito Sans Bold" pitchFamily="34" charset="-120"/>
              </a:rPr>
              <a:t>Strengths</a:t>
            </a:r>
            <a:endParaRPr lang="en-US" dirty="0"/>
          </a:p>
        </p:txBody>
      </p:sp>
      <p:sp>
        <p:nvSpPr>
          <p:cNvPr id="24" name="Text 16"/>
          <p:cNvSpPr/>
          <p:nvPr/>
        </p:nvSpPr>
        <p:spPr>
          <a:xfrm>
            <a:off x="911863" y="4793982"/>
            <a:ext cx="5250061" cy="1257498"/>
          </a:xfrm>
          <a:prstGeom prst="rect">
            <a:avLst/>
          </a:prstGeom>
          <a:noFill/>
          <a:ln/>
        </p:spPr>
        <p:txBody>
          <a:bodyPr wrap="square" lIns="0" tIns="0" rIns="0" bIns="0" rtlCol="0" anchor="t"/>
          <a:lstStyle/>
          <a:p>
            <a:pPr marL="285739" indent="-285739">
              <a:lnSpc>
                <a:spcPts val="1708"/>
              </a:lnSpc>
              <a:buSzPct val="100000"/>
              <a:buChar char="•"/>
            </a:pPr>
            <a:r>
              <a:rPr lang="en-US" sz="1400" dirty="0">
                <a:solidFill>
                  <a:srgbClr val="000000"/>
                </a:solidFill>
                <a:ea typeface="Nunito Sans" pitchFamily="34" charset="-122"/>
                <a:cs typeface="Nunito Sans" pitchFamily="34" charset="-120"/>
              </a:rPr>
              <a:t>Proven real-time capability</a:t>
            </a:r>
            <a:endParaRPr lang="en-US" sz="1400" dirty="0"/>
          </a:p>
          <a:p>
            <a:pPr marL="285739" indent="-285739">
              <a:lnSpc>
                <a:spcPts val="1708"/>
              </a:lnSpc>
              <a:buSzPct val="100000"/>
              <a:buChar char="•"/>
            </a:pPr>
            <a:r>
              <a:rPr lang="en-US" sz="1400" dirty="0">
                <a:solidFill>
                  <a:srgbClr val="000000"/>
                </a:solidFill>
                <a:ea typeface="Nunito Sans" pitchFamily="34" charset="-122"/>
                <a:cs typeface="Nunito Sans" pitchFamily="34" charset="-120"/>
              </a:rPr>
              <a:t>Hybrid LLM architecture</a:t>
            </a:r>
            <a:endParaRPr lang="en-US" sz="1400" dirty="0"/>
          </a:p>
          <a:p>
            <a:pPr marL="285739" indent="-285739">
              <a:lnSpc>
                <a:spcPts val="1708"/>
              </a:lnSpc>
              <a:buSzPct val="100000"/>
              <a:buChar char="•"/>
            </a:pPr>
            <a:r>
              <a:rPr lang="en-US" sz="1400" dirty="0">
                <a:solidFill>
                  <a:srgbClr val="000000"/>
                </a:solidFill>
                <a:ea typeface="Nunito Sans" pitchFamily="34" charset="-122"/>
                <a:cs typeface="Nunito Sans" pitchFamily="34" charset="-120"/>
              </a:rPr>
              <a:t>Zero variable costs</a:t>
            </a:r>
            <a:endParaRPr lang="en-US" sz="1400" dirty="0"/>
          </a:p>
          <a:p>
            <a:pPr marL="285739" indent="-285739">
              <a:lnSpc>
                <a:spcPts val="1708"/>
              </a:lnSpc>
              <a:buSzPct val="100000"/>
              <a:buChar char="•"/>
            </a:pPr>
            <a:r>
              <a:rPr lang="en-US" sz="1400" dirty="0">
                <a:solidFill>
                  <a:srgbClr val="000000"/>
                </a:solidFill>
                <a:ea typeface="Nunito Sans" pitchFamily="34" charset="-122"/>
                <a:cs typeface="Nunito Sans" pitchFamily="34" charset="-120"/>
              </a:rPr>
              <a:t>Privacy-first design</a:t>
            </a:r>
            <a:endParaRPr lang="en-US" sz="1400" dirty="0"/>
          </a:p>
          <a:p>
            <a:pPr marL="285739" indent="-285739">
              <a:lnSpc>
                <a:spcPts val="1708"/>
              </a:lnSpc>
              <a:buSzPct val="100000"/>
              <a:buChar char="•"/>
            </a:pPr>
            <a:r>
              <a:rPr lang="en-US" sz="1400" dirty="0">
                <a:solidFill>
                  <a:srgbClr val="000000"/>
                </a:solidFill>
                <a:ea typeface="Nunito Sans" pitchFamily="34" charset="-122"/>
                <a:cs typeface="Nunito Sans" pitchFamily="34" charset="-120"/>
              </a:rPr>
              <a:t>CPU-only fallback</a:t>
            </a:r>
            <a:endParaRPr lang="en-US" sz="1400" dirty="0"/>
          </a:p>
        </p:txBody>
      </p:sp>
      <p:sp>
        <p:nvSpPr>
          <p:cNvPr id="25" name="Text 17"/>
          <p:cNvSpPr/>
          <p:nvPr/>
        </p:nvSpPr>
        <p:spPr>
          <a:xfrm>
            <a:off x="6537168" y="4436794"/>
            <a:ext cx="1890217" cy="236240"/>
          </a:xfrm>
          <a:prstGeom prst="rect">
            <a:avLst/>
          </a:prstGeom>
          <a:noFill/>
          <a:ln/>
        </p:spPr>
        <p:txBody>
          <a:bodyPr wrap="none" lIns="0" tIns="0" rIns="0" bIns="0" rtlCol="0" anchor="t"/>
          <a:lstStyle/>
          <a:p>
            <a:pPr>
              <a:lnSpc>
                <a:spcPts val="1833"/>
              </a:lnSpc>
            </a:pPr>
            <a:r>
              <a:rPr lang="en-US" b="1" dirty="0">
                <a:solidFill>
                  <a:srgbClr val="161A3E"/>
                </a:solidFill>
                <a:ea typeface="Nunito Sans Bold" pitchFamily="34" charset="-122"/>
                <a:cs typeface="Nunito Sans Bold" pitchFamily="34" charset="-120"/>
              </a:rPr>
              <a:t>Next Steps</a:t>
            </a:r>
            <a:endParaRPr lang="en-US" dirty="0"/>
          </a:p>
        </p:txBody>
      </p:sp>
      <p:sp>
        <p:nvSpPr>
          <p:cNvPr id="26" name="Text 18"/>
          <p:cNvSpPr/>
          <p:nvPr/>
        </p:nvSpPr>
        <p:spPr>
          <a:xfrm>
            <a:off x="6537169" y="4793982"/>
            <a:ext cx="5250061" cy="997545"/>
          </a:xfrm>
          <a:prstGeom prst="rect">
            <a:avLst/>
          </a:prstGeom>
          <a:noFill/>
          <a:ln/>
        </p:spPr>
        <p:txBody>
          <a:bodyPr wrap="square" lIns="0" tIns="0" rIns="0" bIns="0" rtlCol="0" anchor="t"/>
          <a:lstStyle/>
          <a:p>
            <a:pPr marL="285739" indent="-285739">
              <a:lnSpc>
                <a:spcPts val="1708"/>
              </a:lnSpc>
              <a:buSzPct val="100000"/>
              <a:buFont typeface="+mj-lt"/>
              <a:buAutoNum type="arabicPeriod"/>
            </a:pPr>
            <a:r>
              <a:rPr lang="en-US" sz="1400" dirty="0">
                <a:solidFill>
                  <a:srgbClr val="000000"/>
                </a:solidFill>
                <a:ea typeface="Nunito Sans" pitchFamily="34" charset="-122"/>
                <a:cs typeface="Nunito Sans" pitchFamily="34" charset="-120"/>
              </a:rPr>
              <a:t>Limited user pilot (50-100 beta users)</a:t>
            </a:r>
            <a:endParaRPr lang="en-US" sz="1400" dirty="0"/>
          </a:p>
          <a:p>
            <a:pPr marL="285739" indent="-285739">
              <a:lnSpc>
                <a:spcPts val="1708"/>
              </a:lnSpc>
              <a:buSzPct val="100000"/>
              <a:buFont typeface="+mj-lt"/>
              <a:buAutoNum type="arabicPeriod" startAt="2"/>
            </a:pPr>
            <a:r>
              <a:rPr lang="en-US" sz="1400" dirty="0">
                <a:solidFill>
                  <a:srgbClr val="000000"/>
                </a:solidFill>
                <a:ea typeface="Nunito Sans" pitchFamily="34" charset="-122"/>
                <a:cs typeface="Nunito Sans" pitchFamily="34" charset="-120"/>
              </a:rPr>
              <a:t>Implement vector RAG integration</a:t>
            </a:r>
            <a:endParaRPr lang="en-US" sz="1400" dirty="0"/>
          </a:p>
          <a:p>
            <a:pPr marL="285739" indent="-285739">
              <a:lnSpc>
                <a:spcPts val="1708"/>
              </a:lnSpc>
              <a:buSzPct val="100000"/>
              <a:buFont typeface="+mj-lt"/>
              <a:buAutoNum type="arabicPeriod" startAt="3"/>
            </a:pPr>
            <a:r>
              <a:rPr lang="en-US" sz="1400" dirty="0">
                <a:solidFill>
                  <a:srgbClr val="000000"/>
                </a:solidFill>
                <a:ea typeface="Nunito Sans" pitchFamily="34" charset="-122"/>
                <a:cs typeface="Nunito Sans" pitchFamily="34" charset="-120"/>
              </a:rPr>
              <a:t>Add robust error handling</a:t>
            </a:r>
            <a:endParaRPr lang="en-US" sz="1400" dirty="0"/>
          </a:p>
          <a:p>
            <a:pPr marL="285739" indent="-285739">
              <a:lnSpc>
                <a:spcPts val="1708"/>
              </a:lnSpc>
              <a:buSzPct val="100000"/>
              <a:buFont typeface="+mj-lt"/>
              <a:buAutoNum type="arabicPeriod" startAt="4"/>
            </a:pPr>
            <a:r>
              <a:rPr lang="en-US" sz="1400" dirty="0">
                <a:solidFill>
                  <a:srgbClr val="000000"/>
                </a:solidFill>
                <a:ea typeface="Nunito Sans" pitchFamily="34" charset="-122"/>
                <a:cs typeface="Nunito Sans" pitchFamily="34" charset="-120"/>
              </a:rPr>
              <a:t>Load testing under concurrent users</a:t>
            </a:r>
            <a:endParaRPr lang="en-US" sz="1400" dirty="0"/>
          </a:p>
        </p:txBody>
      </p:sp>
      <p:sp>
        <p:nvSpPr>
          <p:cNvPr id="28" name="Title 27">
            <a:extLst>
              <a:ext uri="{FF2B5EF4-FFF2-40B4-BE49-F238E27FC236}">
                <a16:creationId xmlns:a16="http://schemas.microsoft.com/office/drawing/2014/main" id="{65FA9E4D-6A29-CB23-5BAF-8A991C2606A1}"/>
              </a:ext>
            </a:extLst>
          </p:cNvPr>
          <p:cNvSpPr>
            <a:spLocks noGrp="1"/>
          </p:cNvSpPr>
          <p:nvPr>
            <p:ph type="title"/>
          </p:nvPr>
        </p:nvSpPr>
        <p:spPr>
          <a:xfrm>
            <a:off x="678883" y="188664"/>
            <a:ext cx="10834234" cy="612775"/>
          </a:xfrm>
        </p:spPr>
        <p:txBody>
          <a:bodyPr>
            <a:normAutofit/>
          </a:bodyPr>
          <a:lstStyle/>
          <a:p>
            <a:r>
              <a:rPr lang="en-US" sz="3200" dirty="0">
                <a:solidFill>
                  <a:srgbClr val="161A3E"/>
                </a:solidFill>
                <a:latin typeface="+mn-lt"/>
                <a:ea typeface="Nunito Sans Bold" pitchFamily="34" charset="-122"/>
                <a:cs typeface="Nunito Sans Bold" pitchFamily="34" charset="-120"/>
              </a:rPr>
              <a:t>Future Enhancements</a:t>
            </a:r>
            <a:endParaRPr lang="en-IN" sz="3200" dirty="0">
              <a:latin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7121</TotalTime>
  <Words>1565</Words>
  <Application>Microsoft Office PowerPoint</Application>
  <PresentationFormat>Widescreen</PresentationFormat>
  <Paragraphs>204</Paragraphs>
  <Slides>16</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Nunito Sans</vt:lpstr>
      <vt:lpstr>Nunito Sans Bold</vt:lpstr>
      <vt:lpstr>Nunito Sans Light</vt:lpstr>
      <vt:lpstr>BIA Template</vt:lpstr>
      <vt:lpstr>PowerPoint Presentation</vt:lpstr>
      <vt:lpstr>PowerPoint Presentation</vt:lpstr>
      <vt:lpstr>Real Time E-Commerce VoiceBot</vt:lpstr>
      <vt:lpstr>The Problem</vt:lpstr>
      <vt:lpstr>Solution – A Voice-First Experience</vt:lpstr>
      <vt:lpstr>Architecture Overview</vt:lpstr>
      <vt:lpstr>System Architecture &amp; Data Flow</vt:lpstr>
      <vt:lpstr>Technical Stack</vt:lpstr>
      <vt:lpstr>Key Engineering Challenges</vt:lpstr>
      <vt:lpstr>Live Demo Scenarios</vt:lpstr>
      <vt:lpstr>Screens</vt:lpstr>
      <vt:lpstr>Results &amp; Metrics</vt:lpstr>
      <vt:lpstr>Key Learnings </vt:lpstr>
      <vt:lpstr>Future Enhancements</vt:lpstr>
      <vt:lpstr>PowerPoint Presentation</vt:lpstr>
      <vt:lpstr> 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Anupam Baksi</cp:lastModifiedBy>
  <cp:revision>2277</cp:revision>
  <dcterms:created xsi:type="dcterms:W3CDTF">2020-12-23T13:36:00Z</dcterms:created>
  <dcterms:modified xsi:type="dcterms:W3CDTF">2026-03-29T10:57:27Z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